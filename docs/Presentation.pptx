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3"/>
  </p:notesMasterIdLst>
  <p:handoutMasterIdLst>
    <p:handoutMasterId r:id="rId54"/>
  </p:handoutMasterIdLst>
  <p:sldIdLst>
    <p:sldId id="344" r:id="rId5"/>
    <p:sldId id="256" r:id="rId6"/>
    <p:sldId id="257" r:id="rId7"/>
    <p:sldId id="309" r:id="rId8"/>
    <p:sldId id="270" r:id="rId9"/>
    <p:sldId id="271" r:id="rId10"/>
    <p:sldId id="314" r:id="rId11"/>
    <p:sldId id="315" r:id="rId12"/>
    <p:sldId id="316" r:id="rId13"/>
    <p:sldId id="317" r:id="rId14"/>
    <p:sldId id="318" r:id="rId15"/>
    <p:sldId id="319" r:id="rId16"/>
    <p:sldId id="310" r:id="rId17"/>
    <p:sldId id="321" r:id="rId18"/>
    <p:sldId id="323" r:id="rId19"/>
    <p:sldId id="322" r:id="rId20"/>
    <p:sldId id="320" r:id="rId21"/>
    <p:sldId id="274" r:id="rId22"/>
    <p:sldId id="275" r:id="rId23"/>
    <p:sldId id="311" r:id="rId24"/>
    <p:sldId id="276" r:id="rId25"/>
    <p:sldId id="277" r:id="rId26"/>
    <p:sldId id="324" r:id="rId27"/>
    <p:sldId id="325" r:id="rId28"/>
    <p:sldId id="334" r:id="rId29"/>
    <p:sldId id="339" r:id="rId30"/>
    <p:sldId id="335" r:id="rId31"/>
    <p:sldId id="340" r:id="rId32"/>
    <p:sldId id="336" r:id="rId33"/>
    <p:sldId id="341" r:id="rId34"/>
    <p:sldId id="337" r:id="rId35"/>
    <p:sldId id="342" r:id="rId36"/>
    <p:sldId id="343" r:id="rId37"/>
    <p:sldId id="312" r:id="rId38"/>
    <p:sldId id="280" r:id="rId39"/>
    <p:sldId id="282" r:id="rId40"/>
    <p:sldId id="288" r:id="rId41"/>
    <p:sldId id="289" r:id="rId42"/>
    <p:sldId id="290" r:id="rId43"/>
    <p:sldId id="326" r:id="rId44"/>
    <p:sldId id="327" r:id="rId45"/>
    <p:sldId id="328" r:id="rId46"/>
    <p:sldId id="332" r:id="rId47"/>
    <p:sldId id="330" r:id="rId48"/>
    <p:sldId id="331" r:id="rId49"/>
    <p:sldId id="269" r:id="rId50"/>
    <p:sldId id="272" r:id="rId51"/>
    <p:sldId id="27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53" autoAdjust="0"/>
    <p:restoredTop sz="94660"/>
  </p:normalViewPr>
  <p:slideViewPr>
    <p:cSldViewPr snapToGrid="0">
      <p:cViewPr varScale="1">
        <p:scale>
          <a:sx n="82" d="100"/>
          <a:sy n="82" d="100"/>
        </p:scale>
        <p:origin x="230" y="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5/9/2024</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5/9/2024</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pi.hole/admin" TargetMode="Externa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4A7F7AB-01FD-D458-BD13-AA97F2A4C67E}"/>
              </a:ext>
            </a:extLst>
          </p:cNvPr>
          <p:cNvSpPr>
            <a:spLocks noGrp="1"/>
          </p:cNvSpPr>
          <p:nvPr>
            <p:ph type="sldNum" sz="quarter" idx="12"/>
          </p:nvPr>
        </p:nvSpPr>
        <p:spPr>
          <a:xfrm>
            <a:off x="11225344" y="6315075"/>
            <a:ext cx="433256" cy="365125"/>
          </a:xfrm>
        </p:spPr>
        <p:txBody>
          <a:bodyPr/>
          <a:lstStyle/>
          <a:p>
            <a:fld id="{C263D6C4-4840-40CC-AC84-17E24B3B7BDE}" type="slidenum">
              <a:rPr lang="en-US" b="1" noProof="0" smtClean="0">
                <a:solidFill>
                  <a:schemeClr val="bg2">
                    <a:lumMod val="20000"/>
                    <a:lumOff val="80000"/>
                  </a:schemeClr>
                </a:solidFill>
              </a:rPr>
              <a:pPr/>
              <a:t>1</a:t>
            </a:fld>
            <a:endParaRPr lang="en-US" b="1" noProof="0" dirty="0">
              <a:solidFill>
                <a:schemeClr val="bg2">
                  <a:lumMod val="20000"/>
                  <a:lumOff val="80000"/>
                </a:schemeClr>
              </a:solidFill>
            </a:endParaRPr>
          </a:p>
        </p:txBody>
      </p:sp>
      <p:pic>
        <p:nvPicPr>
          <p:cNvPr id="4" name="Picture 3" descr="A logo with a black background&#10;&#10;Description automatically generated">
            <a:extLst>
              <a:ext uri="{FF2B5EF4-FFF2-40B4-BE49-F238E27FC236}">
                <a16:creationId xmlns:a16="http://schemas.microsoft.com/office/drawing/2014/main" id="{A78074C9-8206-49D4-5EB1-5CDF6DA9FA18}"/>
              </a:ext>
            </a:extLst>
          </p:cNvPr>
          <p:cNvPicPr>
            <a:picLocks noChangeAspect="1"/>
          </p:cNvPicPr>
          <p:nvPr/>
        </p:nvPicPr>
        <p:blipFill>
          <a:blip r:embed="rId2"/>
          <a:stretch>
            <a:fillRect/>
          </a:stretch>
        </p:blipFill>
        <p:spPr>
          <a:xfrm>
            <a:off x="467879" y="618335"/>
            <a:ext cx="1452083" cy="14954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5" descr="A shield with a ribbon&#10;&#10;Description automatically generated">
            <a:extLst>
              <a:ext uri="{FF2B5EF4-FFF2-40B4-BE49-F238E27FC236}">
                <a16:creationId xmlns:a16="http://schemas.microsoft.com/office/drawing/2014/main" id="{40976A9E-DC72-024D-DC45-B5470477652C}"/>
              </a:ext>
            </a:extLst>
          </p:cNvPr>
          <p:cNvPicPr>
            <a:picLocks noChangeAspect="1"/>
          </p:cNvPicPr>
          <p:nvPr/>
        </p:nvPicPr>
        <p:blipFill>
          <a:blip r:embed="rId3"/>
          <a:stretch>
            <a:fillRect/>
          </a:stretch>
        </p:blipFill>
        <p:spPr>
          <a:xfrm>
            <a:off x="9697662" y="522567"/>
            <a:ext cx="2091812" cy="1752600"/>
          </a:xfrm>
          <a:prstGeom prst="rect">
            <a:avLst/>
          </a:prstGeom>
        </p:spPr>
      </p:pic>
      <p:sp>
        <p:nvSpPr>
          <p:cNvPr id="7" name="TextBox 8">
            <a:extLst>
              <a:ext uri="{FF2B5EF4-FFF2-40B4-BE49-F238E27FC236}">
                <a16:creationId xmlns:a16="http://schemas.microsoft.com/office/drawing/2014/main" id="{C8792A7D-AB83-F7DE-69C4-29EC36F08AE9}"/>
              </a:ext>
            </a:extLst>
          </p:cNvPr>
          <p:cNvSpPr txBox="1"/>
          <p:nvPr/>
        </p:nvSpPr>
        <p:spPr>
          <a:xfrm>
            <a:off x="2858947" y="1272176"/>
            <a:ext cx="6412828"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u="sng" dirty="0">
                <a:solidFill>
                  <a:schemeClr val="bg2">
                    <a:lumMod val="20000"/>
                    <a:lumOff val="80000"/>
                  </a:schemeClr>
                </a:solidFill>
                <a:latin typeface="Times New Roman"/>
                <a:ea typeface="Calibri"/>
                <a:cs typeface="Calibri"/>
              </a:rPr>
              <a:t>ANNA UNIVERSITY PROJECT VIVA VOCE</a:t>
            </a:r>
            <a:endParaRPr lang="en-US" sz="2400" b="1" dirty="0">
              <a:solidFill>
                <a:schemeClr val="bg2">
                  <a:lumMod val="20000"/>
                  <a:lumOff val="80000"/>
                </a:schemeClr>
              </a:solidFill>
              <a:latin typeface="Times New Roman"/>
              <a:cs typeface="Times New Roman"/>
            </a:endParaRPr>
          </a:p>
        </p:txBody>
      </p:sp>
      <p:sp>
        <p:nvSpPr>
          <p:cNvPr id="8" name="TextBox 11">
            <a:extLst>
              <a:ext uri="{FF2B5EF4-FFF2-40B4-BE49-F238E27FC236}">
                <a16:creationId xmlns:a16="http://schemas.microsoft.com/office/drawing/2014/main" id="{2145777A-0BC8-F184-6918-DA951CCF89D9}"/>
              </a:ext>
            </a:extLst>
          </p:cNvPr>
          <p:cNvSpPr txBox="1"/>
          <p:nvPr/>
        </p:nvSpPr>
        <p:spPr>
          <a:xfrm>
            <a:off x="1226539" y="2246237"/>
            <a:ext cx="9738921" cy="95410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b="1" dirty="0">
                <a:solidFill>
                  <a:schemeClr val="bg2">
                    <a:lumMod val="20000"/>
                    <a:lumOff val="80000"/>
                  </a:schemeClr>
                </a:solidFill>
                <a:latin typeface="Times New Roman"/>
                <a:ea typeface="Calibri"/>
                <a:cs typeface="Times New Roman"/>
              </a:rPr>
              <a:t>NEXT-GEN AD BLOCKING AND DYNAMIC AD-LIST GENERATION IN RASPBERRY PI</a:t>
            </a:r>
            <a:endParaRPr lang="en-US" sz="2800" b="1" dirty="0">
              <a:solidFill>
                <a:schemeClr val="bg2">
                  <a:lumMod val="20000"/>
                  <a:lumOff val="80000"/>
                </a:schemeClr>
              </a:solidFill>
              <a:latin typeface="Times New Roman"/>
              <a:ea typeface="Calibri"/>
              <a:cs typeface="Calibri"/>
            </a:endParaRPr>
          </a:p>
        </p:txBody>
      </p:sp>
      <p:sp>
        <p:nvSpPr>
          <p:cNvPr id="9" name="TextBox 12">
            <a:extLst>
              <a:ext uri="{FF2B5EF4-FFF2-40B4-BE49-F238E27FC236}">
                <a16:creationId xmlns:a16="http://schemas.microsoft.com/office/drawing/2014/main" id="{A3DE80A8-9D9E-AADC-5E6F-E3D81C87FBE5}"/>
              </a:ext>
            </a:extLst>
          </p:cNvPr>
          <p:cNvSpPr txBox="1"/>
          <p:nvPr/>
        </p:nvSpPr>
        <p:spPr>
          <a:xfrm>
            <a:off x="3234489" y="3193565"/>
            <a:ext cx="5723019"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solidFill>
                  <a:schemeClr val="bg2">
                    <a:lumMod val="20000"/>
                    <a:lumOff val="80000"/>
                  </a:schemeClr>
                </a:solidFill>
                <a:latin typeface="Times New Roman"/>
                <a:ea typeface="Calibri"/>
                <a:cs typeface="Times New Roman"/>
              </a:rPr>
              <a:t>(COMPUTER SCIENCE AND ENGINEERING)</a:t>
            </a:r>
          </a:p>
        </p:txBody>
      </p:sp>
      <p:sp>
        <p:nvSpPr>
          <p:cNvPr id="10" name="TextBox 13">
            <a:extLst>
              <a:ext uri="{FF2B5EF4-FFF2-40B4-BE49-F238E27FC236}">
                <a16:creationId xmlns:a16="http://schemas.microsoft.com/office/drawing/2014/main" id="{59CB0045-7564-6A53-A10E-CF3482B5757B}"/>
              </a:ext>
            </a:extLst>
          </p:cNvPr>
          <p:cNvSpPr txBox="1"/>
          <p:nvPr/>
        </p:nvSpPr>
        <p:spPr>
          <a:xfrm>
            <a:off x="4501410" y="3625506"/>
            <a:ext cx="3127902"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dirty="0">
                <a:solidFill>
                  <a:schemeClr val="bg2">
                    <a:lumMod val="20000"/>
                    <a:lumOff val="80000"/>
                  </a:schemeClr>
                </a:solidFill>
                <a:latin typeface="Times New Roman"/>
                <a:ea typeface="Calibri"/>
                <a:cs typeface="Times New Roman"/>
              </a:rPr>
              <a:t>FINAL YEAR - R17</a:t>
            </a:r>
            <a:br>
              <a:rPr lang="en-US" sz="2000" b="1" dirty="0">
                <a:solidFill>
                  <a:schemeClr val="bg2">
                    <a:lumMod val="20000"/>
                    <a:lumOff val="80000"/>
                  </a:schemeClr>
                </a:solidFill>
                <a:latin typeface="Times New Roman"/>
              </a:rPr>
            </a:br>
            <a:r>
              <a:rPr lang="en-US" sz="2000" b="1" dirty="0">
                <a:solidFill>
                  <a:schemeClr val="bg2">
                    <a:lumMod val="20000"/>
                    <a:lumOff val="80000"/>
                  </a:schemeClr>
                </a:solidFill>
                <a:latin typeface="Times New Roman"/>
                <a:ea typeface="Calibri"/>
                <a:cs typeface="Times New Roman"/>
              </a:rPr>
              <a:t>BATCH - 2020-24</a:t>
            </a:r>
            <a:endParaRPr lang="en-US" sz="2000" b="1" dirty="0">
              <a:solidFill>
                <a:schemeClr val="bg2">
                  <a:lumMod val="20000"/>
                  <a:lumOff val="80000"/>
                </a:schemeClr>
              </a:solidFill>
              <a:latin typeface="Times New Roman"/>
              <a:ea typeface="Calibri"/>
              <a:cs typeface="Arial"/>
            </a:endParaRPr>
          </a:p>
        </p:txBody>
      </p:sp>
      <p:sp>
        <p:nvSpPr>
          <p:cNvPr id="11" name="TextBox 14">
            <a:extLst>
              <a:ext uri="{FF2B5EF4-FFF2-40B4-BE49-F238E27FC236}">
                <a16:creationId xmlns:a16="http://schemas.microsoft.com/office/drawing/2014/main" id="{BFE2CE9D-0C56-6283-9275-7E0B2E27696E}"/>
              </a:ext>
            </a:extLst>
          </p:cNvPr>
          <p:cNvSpPr txBox="1"/>
          <p:nvPr/>
        </p:nvSpPr>
        <p:spPr>
          <a:xfrm>
            <a:off x="3077355" y="4476015"/>
            <a:ext cx="6037286"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dirty="0">
                <a:solidFill>
                  <a:schemeClr val="bg2">
                    <a:lumMod val="20000"/>
                    <a:lumOff val="80000"/>
                  </a:schemeClr>
                </a:solidFill>
                <a:latin typeface="Times New Roman"/>
                <a:ea typeface="Calibri"/>
                <a:cs typeface="Times New Roman"/>
              </a:rPr>
              <a:t>SRI MUTHUKUMARAN INSTITUE OF TECHNOLOGY</a:t>
            </a:r>
            <a:br>
              <a:rPr lang="en-US" b="1" dirty="0">
                <a:solidFill>
                  <a:schemeClr val="bg2">
                    <a:lumMod val="20000"/>
                    <a:lumOff val="80000"/>
                  </a:schemeClr>
                </a:solidFill>
                <a:latin typeface="Times New Roman"/>
                <a:ea typeface="Calibri"/>
                <a:cs typeface="Times New Roman"/>
              </a:rPr>
            </a:br>
            <a:r>
              <a:rPr lang="en-US" b="1" dirty="0">
                <a:solidFill>
                  <a:schemeClr val="bg2">
                    <a:lumMod val="20000"/>
                    <a:lumOff val="80000"/>
                  </a:schemeClr>
                </a:solidFill>
                <a:latin typeface="Times New Roman"/>
                <a:ea typeface="Calibri"/>
                <a:cs typeface="Times New Roman"/>
              </a:rPr>
              <a:t>CHENNAI - 69</a:t>
            </a:r>
            <a:endParaRPr lang="en-US" b="1" dirty="0">
              <a:solidFill>
                <a:schemeClr val="bg2">
                  <a:lumMod val="20000"/>
                  <a:lumOff val="80000"/>
                </a:schemeClr>
              </a:solidFill>
              <a:latin typeface="Times New Roman"/>
              <a:ea typeface="Calibri"/>
              <a:cs typeface="Calibri"/>
            </a:endParaRPr>
          </a:p>
        </p:txBody>
      </p:sp>
      <p:sp>
        <p:nvSpPr>
          <p:cNvPr id="12" name="TextBox 15">
            <a:extLst>
              <a:ext uri="{FF2B5EF4-FFF2-40B4-BE49-F238E27FC236}">
                <a16:creationId xmlns:a16="http://schemas.microsoft.com/office/drawing/2014/main" id="{886E6FE7-E3B6-5817-DAC4-80EA3468FAB8}"/>
              </a:ext>
            </a:extLst>
          </p:cNvPr>
          <p:cNvSpPr txBox="1"/>
          <p:nvPr/>
        </p:nvSpPr>
        <p:spPr>
          <a:xfrm>
            <a:off x="749675" y="5129767"/>
            <a:ext cx="4412633" cy="101566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solidFill>
                  <a:schemeClr val="bg2">
                    <a:lumMod val="20000"/>
                    <a:lumOff val="80000"/>
                  </a:schemeClr>
                </a:solidFill>
                <a:latin typeface="Times New Roman"/>
                <a:cs typeface="Times New Roman"/>
              </a:rPr>
              <a:t>PRESENTED BY –</a:t>
            </a:r>
            <a:br>
              <a:rPr lang="en-US" sz="2000" b="1" dirty="0">
                <a:solidFill>
                  <a:schemeClr val="bg2">
                    <a:lumMod val="20000"/>
                    <a:lumOff val="80000"/>
                  </a:schemeClr>
                </a:solidFill>
                <a:latin typeface="Times New Roman"/>
                <a:cs typeface="Times New Roman"/>
              </a:rPr>
            </a:br>
            <a:r>
              <a:rPr lang="en-US" sz="2000" b="1" dirty="0">
                <a:solidFill>
                  <a:schemeClr val="bg2">
                    <a:lumMod val="20000"/>
                    <a:lumOff val="80000"/>
                  </a:schemeClr>
                </a:solidFill>
                <a:latin typeface="Times New Roman"/>
                <a:cs typeface="Times New Roman"/>
              </a:rPr>
              <a:t>M VISHAL(212620104024)</a:t>
            </a:r>
            <a:br>
              <a:rPr lang="en-US" sz="2000" b="1" dirty="0">
                <a:solidFill>
                  <a:schemeClr val="bg2">
                    <a:lumMod val="20000"/>
                    <a:lumOff val="80000"/>
                  </a:schemeClr>
                </a:solidFill>
                <a:latin typeface="Times New Roman"/>
                <a:cs typeface="Times New Roman"/>
              </a:rPr>
            </a:br>
            <a:r>
              <a:rPr lang="en-US" sz="2000" b="1" dirty="0">
                <a:solidFill>
                  <a:schemeClr val="bg2">
                    <a:lumMod val="20000"/>
                    <a:lumOff val="80000"/>
                  </a:schemeClr>
                </a:solidFill>
                <a:latin typeface="Times New Roman"/>
                <a:cs typeface="Times New Roman"/>
              </a:rPr>
              <a:t>R YUNESHWARAN (212620104026)</a:t>
            </a:r>
            <a:endParaRPr lang="en-US" sz="2000" b="1" dirty="0">
              <a:solidFill>
                <a:schemeClr val="bg2">
                  <a:lumMod val="20000"/>
                  <a:lumOff val="80000"/>
                </a:schemeClr>
              </a:solidFill>
            </a:endParaRPr>
          </a:p>
        </p:txBody>
      </p:sp>
      <p:sp>
        <p:nvSpPr>
          <p:cNvPr id="13" name="TextBox 16">
            <a:extLst>
              <a:ext uri="{FF2B5EF4-FFF2-40B4-BE49-F238E27FC236}">
                <a16:creationId xmlns:a16="http://schemas.microsoft.com/office/drawing/2014/main" id="{9BDEBA88-3721-7D25-B55F-E029FB905903}"/>
              </a:ext>
            </a:extLst>
          </p:cNvPr>
          <p:cNvSpPr txBox="1"/>
          <p:nvPr/>
        </p:nvSpPr>
        <p:spPr>
          <a:xfrm>
            <a:off x="7309165" y="5136103"/>
            <a:ext cx="4882835" cy="101566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solidFill>
                  <a:schemeClr val="bg2">
                    <a:lumMod val="20000"/>
                    <a:lumOff val="80000"/>
                  </a:schemeClr>
                </a:solidFill>
                <a:latin typeface="Times New Roman"/>
                <a:cs typeface="Times New Roman"/>
              </a:rPr>
              <a:t>GUIDANCE -</a:t>
            </a:r>
            <a:br>
              <a:rPr lang="en-US" sz="2000" b="1" dirty="0">
                <a:solidFill>
                  <a:schemeClr val="bg2">
                    <a:lumMod val="20000"/>
                    <a:lumOff val="80000"/>
                  </a:schemeClr>
                </a:solidFill>
                <a:latin typeface="Times New Roman"/>
                <a:cs typeface="Times New Roman"/>
              </a:rPr>
            </a:br>
            <a:r>
              <a:rPr lang="en-US" sz="2000" b="1" dirty="0" err="1">
                <a:solidFill>
                  <a:schemeClr val="bg2">
                    <a:lumMod val="20000"/>
                    <a:lumOff val="80000"/>
                  </a:schemeClr>
                </a:solidFill>
                <a:latin typeface="Times New Roman"/>
                <a:cs typeface="Times New Roman"/>
              </a:rPr>
              <a:t>Mrs.B.ASHRAF</a:t>
            </a:r>
            <a:r>
              <a:rPr lang="en-US" sz="2000" b="1" dirty="0">
                <a:solidFill>
                  <a:schemeClr val="bg2">
                    <a:lumMod val="20000"/>
                    <a:lumOff val="80000"/>
                  </a:schemeClr>
                </a:solidFill>
                <a:latin typeface="Times New Roman"/>
                <a:cs typeface="Times New Roman"/>
              </a:rPr>
              <a:t> YASHMIN, M</a:t>
            </a:r>
            <a:r>
              <a:rPr lang="en-US" sz="2000" b="1" dirty="0">
                <a:solidFill>
                  <a:schemeClr val="bg2">
                    <a:lumMod val="20000"/>
                    <a:lumOff val="80000"/>
                  </a:schemeClr>
                </a:solidFill>
                <a:latin typeface="Times New Roman"/>
                <a:ea typeface="+mn-lt"/>
                <a:cs typeface="+mn-lt"/>
              </a:rPr>
              <a:t>.E, Ph.D.,</a:t>
            </a:r>
            <a:br>
              <a:rPr lang="en-US" sz="2000" b="1" dirty="0">
                <a:solidFill>
                  <a:schemeClr val="bg2">
                    <a:lumMod val="20000"/>
                    <a:lumOff val="80000"/>
                  </a:schemeClr>
                </a:solidFill>
                <a:latin typeface="Times New Roman"/>
                <a:cs typeface="Times New Roman"/>
              </a:rPr>
            </a:br>
            <a:r>
              <a:rPr lang="en-US" sz="2000" b="1" dirty="0">
                <a:solidFill>
                  <a:schemeClr val="bg2">
                    <a:lumMod val="20000"/>
                    <a:lumOff val="80000"/>
                  </a:schemeClr>
                </a:solidFill>
                <a:latin typeface="Times New Roman"/>
                <a:cs typeface="Times New Roman"/>
              </a:rPr>
              <a:t>ASSISTANT PROFESSOR</a:t>
            </a:r>
            <a:endParaRPr lang="en-US" sz="2000" b="1" dirty="0">
              <a:solidFill>
                <a:schemeClr val="bg2">
                  <a:lumMod val="20000"/>
                  <a:lumOff val="80000"/>
                </a:schemeClr>
              </a:solidFill>
            </a:endParaRPr>
          </a:p>
        </p:txBody>
      </p:sp>
    </p:spTree>
    <p:extLst>
      <p:ext uri="{BB962C8B-B14F-4D97-AF65-F5344CB8AC3E}">
        <p14:creationId xmlns:p14="http://schemas.microsoft.com/office/powerpoint/2010/main" val="2509887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761488" y="2024743"/>
            <a:ext cx="8472569" cy="2155744"/>
          </a:xfrm>
        </p:spPr>
        <p:txBody>
          <a:bodyPr/>
          <a:lstStyle/>
          <a:p>
            <a:r>
              <a:rPr lang="en-US" sz="4800" dirty="0"/>
              <a:t>Next-Gen Ad Blocking and Dynamic Ad-list Generation in Raspberry Pi</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8182573" y="5447771"/>
            <a:ext cx="3618902" cy="868680"/>
          </a:xfrm>
        </p:spPr>
        <p:txBody>
          <a:bodyPr>
            <a:normAutofit fontScale="85000" lnSpcReduction="20000"/>
          </a:bodyPr>
          <a:lstStyle/>
          <a:p>
            <a:pPr marL="0" indent="0">
              <a:buNone/>
            </a:pPr>
            <a:r>
              <a:rPr lang="en-US" dirty="0"/>
              <a:t>By </a:t>
            </a:r>
          </a:p>
          <a:p>
            <a:pPr marL="0" indent="0">
              <a:buNone/>
            </a:pPr>
            <a:r>
              <a:rPr lang="en-US" dirty="0"/>
              <a:t>	M.VISHAL</a:t>
            </a:r>
          </a:p>
          <a:p>
            <a:pPr marL="0" indent="0">
              <a:buNone/>
            </a:pPr>
            <a:r>
              <a:rPr lang="en-US" dirty="0"/>
              <a:t>	R.YUNESHWARAN</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663308" y="1282261"/>
            <a:ext cx="7781544" cy="859055"/>
          </a:xfrm>
        </p:spPr>
        <p:txBody>
          <a:bodyPr/>
          <a:lstStyle/>
          <a:p>
            <a:r>
              <a:rPr lang="en-US" dirty="0"/>
              <a:t>Agenda</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latin typeface="+mj-lt"/>
              </a:rPr>
              <a:pPr/>
              <a:t>3</a:t>
            </a:fld>
            <a:endParaRPr lang="en-US" dirty="0">
              <a:latin typeface="+mj-lt"/>
            </a:endParaRPr>
          </a:p>
        </p:txBody>
      </p:sp>
      <p:sp>
        <p:nvSpPr>
          <p:cNvPr id="6" name="Text Placeholder 5">
            <a:extLst>
              <a:ext uri="{FF2B5EF4-FFF2-40B4-BE49-F238E27FC236}">
                <a16:creationId xmlns:a16="http://schemas.microsoft.com/office/drawing/2014/main" id="{BE0F7A28-B632-449E-0B48-E3BEDE77F85A}"/>
              </a:ext>
            </a:extLst>
          </p:cNvPr>
          <p:cNvSpPr>
            <a:spLocks noGrp="1"/>
          </p:cNvSpPr>
          <p:nvPr>
            <p:ph type="body" idx="1"/>
          </p:nvPr>
        </p:nvSpPr>
        <p:spPr>
          <a:xfrm>
            <a:off x="1172594" y="2679905"/>
            <a:ext cx="4580024" cy="3635170"/>
          </a:xfrm>
        </p:spPr>
        <p:txBody>
          <a:bodyPr>
            <a:normAutofit/>
          </a:bodyPr>
          <a:lstStyle/>
          <a:p>
            <a:pPr marL="285750" indent="-285750">
              <a:buFont typeface="Wingdings" panose="05000000000000000000" pitchFamily="2" charset="2"/>
              <a:buChar char="q"/>
            </a:pPr>
            <a:r>
              <a:rPr lang="en-US" sz="1800" b="1" dirty="0">
                <a:solidFill>
                  <a:srgbClr val="ECECEC"/>
                </a:solidFill>
                <a:latin typeface="+mj-lt"/>
              </a:rPr>
              <a:t>Introduction</a:t>
            </a:r>
          </a:p>
          <a:p>
            <a:pPr marL="285750" indent="-285750">
              <a:buFont typeface="Wingdings" panose="05000000000000000000" pitchFamily="2" charset="2"/>
              <a:buChar char="q"/>
            </a:pPr>
            <a:r>
              <a:rPr lang="en-US" sz="1800" b="1" dirty="0">
                <a:solidFill>
                  <a:srgbClr val="ECECEC"/>
                </a:solidFill>
                <a:latin typeface="+mj-lt"/>
              </a:rPr>
              <a:t>Abstract</a:t>
            </a:r>
          </a:p>
          <a:p>
            <a:pPr marL="285750" indent="-285750">
              <a:buFont typeface="Wingdings" panose="05000000000000000000" pitchFamily="2" charset="2"/>
              <a:buChar char="q"/>
            </a:pPr>
            <a:r>
              <a:rPr lang="en-US" sz="1800" b="1" dirty="0">
                <a:solidFill>
                  <a:srgbClr val="ECECEC"/>
                </a:solidFill>
                <a:latin typeface="+mj-lt"/>
              </a:rPr>
              <a:t>Objective</a:t>
            </a:r>
          </a:p>
          <a:p>
            <a:pPr marL="285750" indent="-285750">
              <a:buFont typeface="Wingdings" panose="05000000000000000000" pitchFamily="2" charset="2"/>
              <a:buChar char="q"/>
            </a:pPr>
            <a:r>
              <a:rPr lang="en-US" sz="1800" b="1" dirty="0">
                <a:solidFill>
                  <a:srgbClr val="ECECEC"/>
                </a:solidFill>
                <a:latin typeface="+mj-lt"/>
              </a:rPr>
              <a:t>Literature Survey</a:t>
            </a:r>
          </a:p>
          <a:p>
            <a:pPr marL="285750" indent="-285750">
              <a:buFont typeface="Wingdings" panose="05000000000000000000" pitchFamily="2" charset="2"/>
              <a:buChar char="q"/>
            </a:pPr>
            <a:r>
              <a:rPr lang="en-US" sz="1800" b="1" dirty="0">
                <a:solidFill>
                  <a:srgbClr val="ECECEC"/>
                </a:solidFill>
                <a:latin typeface="+mj-lt"/>
              </a:rPr>
              <a:t>Problem Statement</a:t>
            </a:r>
          </a:p>
          <a:p>
            <a:pPr marL="285750" indent="-285750">
              <a:buFont typeface="Wingdings" panose="05000000000000000000" pitchFamily="2" charset="2"/>
              <a:buChar char="q"/>
            </a:pPr>
            <a:r>
              <a:rPr lang="en-US" sz="1800" b="1" dirty="0">
                <a:solidFill>
                  <a:srgbClr val="ECECEC"/>
                </a:solidFill>
                <a:latin typeface="+mj-lt"/>
              </a:rPr>
              <a:t>Proposed System</a:t>
            </a:r>
          </a:p>
          <a:p>
            <a:pPr marL="285750" indent="-285750">
              <a:buFont typeface="Wingdings" panose="05000000000000000000" pitchFamily="2" charset="2"/>
              <a:buChar char="q"/>
            </a:pPr>
            <a:r>
              <a:rPr lang="en-US" sz="1800" b="1" dirty="0">
                <a:solidFill>
                  <a:srgbClr val="ECECEC"/>
                </a:solidFill>
                <a:latin typeface="+mj-lt"/>
              </a:rPr>
              <a:t>Base Paper</a:t>
            </a:r>
          </a:p>
          <a:p>
            <a:pPr marL="285750" indent="-285750">
              <a:buFont typeface="Wingdings" panose="05000000000000000000" pitchFamily="2" charset="2"/>
              <a:buChar char="q"/>
            </a:pPr>
            <a:endParaRPr lang="en-US" sz="1800" dirty="0">
              <a:latin typeface="+mj-lt"/>
            </a:endParaRPr>
          </a:p>
        </p:txBody>
      </p:sp>
      <p:sp>
        <p:nvSpPr>
          <p:cNvPr id="3" name="Text Placeholder 5">
            <a:extLst>
              <a:ext uri="{FF2B5EF4-FFF2-40B4-BE49-F238E27FC236}">
                <a16:creationId xmlns:a16="http://schemas.microsoft.com/office/drawing/2014/main" id="{699BBB3C-054F-F349-43BE-F190860D2BC3}"/>
              </a:ext>
            </a:extLst>
          </p:cNvPr>
          <p:cNvSpPr txBox="1">
            <a:spLocks/>
          </p:cNvSpPr>
          <p:nvPr/>
        </p:nvSpPr>
        <p:spPr>
          <a:xfrm>
            <a:off x="5162310" y="2679905"/>
            <a:ext cx="4580024" cy="338052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lang="en-US" sz="1600" kern="1200" spc="300">
                <a:solidFill>
                  <a:schemeClr val="accent1">
                    <a:lumMod val="20000"/>
                    <a:lumOff val="80000"/>
                  </a:schemeClr>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3464" indent="-283464" algn="l" rtl="0" eaLnBrk="1" latinLnBrk="0" hangingPunct="1">
              <a:lnSpc>
                <a:spcPct val="90000"/>
              </a:lnSpc>
              <a:spcBef>
                <a:spcPts val="1000"/>
              </a:spcBef>
              <a:spcAft>
                <a:spcPts val="0"/>
              </a:spcAft>
              <a:buClr>
                <a:schemeClr val="accent2"/>
              </a:buClr>
              <a:buSzPts val="1600"/>
              <a:buFont typeface="Wingdings" panose="05000000000000000000" pitchFamily="2" charset="2"/>
              <a:buChar char="q"/>
            </a:pPr>
            <a:r>
              <a:rPr lang="en-US" sz="1800" b="1" kern="1200" spc="300" dirty="0">
                <a:solidFill>
                  <a:srgbClr val="ECECEC"/>
                </a:solidFill>
                <a:effectLst/>
                <a:latin typeface="Trebuchet MS" panose="020B0603020202020204" pitchFamily="34" charset="0"/>
                <a:ea typeface="+mn-ea"/>
                <a:cs typeface="Arial" panose="020B0604020202020204" pitchFamily="34" charset="0"/>
              </a:rPr>
              <a:t>Modules</a:t>
            </a:r>
            <a:endParaRPr lang="en-US" sz="1800" dirty="0"/>
          </a:p>
          <a:p>
            <a:pPr marL="283464" indent="-283464" algn="l" rtl="0" eaLnBrk="1" latinLnBrk="0" hangingPunct="1">
              <a:lnSpc>
                <a:spcPct val="90000"/>
              </a:lnSpc>
              <a:spcBef>
                <a:spcPts val="1000"/>
              </a:spcBef>
              <a:spcAft>
                <a:spcPts val="0"/>
              </a:spcAft>
              <a:buClr>
                <a:schemeClr val="accent2"/>
              </a:buClr>
              <a:buSzPts val="1600"/>
              <a:buFont typeface="Wingdings" panose="05000000000000000000" pitchFamily="2" charset="2"/>
              <a:buChar char="q"/>
            </a:pPr>
            <a:r>
              <a:rPr lang="en-US" sz="1800" b="1" i="0" kern="1200" spc="300" dirty="0">
                <a:solidFill>
                  <a:srgbClr val="ECECEC"/>
                </a:solidFill>
                <a:effectLst/>
                <a:latin typeface="Trebuchet MS" panose="020B0603020202020204" pitchFamily="34" charset="0"/>
                <a:ea typeface="+mn-ea"/>
                <a:cs typeface="Arial" panose="020B0604020202020204" pitchFamily="34" charset="0"/>
              </a:rPr>
              <a:t>System Architecture</a:t>
            </a:r>
            <a:endParaRPr lang="en-US" dirty="0"/>
          </a:p>
          <a:p>
            <a:pPr marL="283464" indent="-283464" algn="l" rtl="0" eaLnBrk="1" latinLnBrk="0" hangingPunct="1">
              <a:lnSpc>
                <a:spcPct val="90000"/>
              </a:lnSpc>
              <a:spcBef>
                <a:spcPts val="1000"/>
              </a:spcBef>
              <a:spcAft>
                <a:spcPts val="0"/>
              </a:spcAft>
              <a:buClr>
                <a:schemeClr val="accent2"/>
              </a:buClr>
              <a:buSzPts val="1600"/>
              <a:buFont typeface="Wingdings" panose="05000000000000000000" pitchFamily="2" charset="2"/>
              <a:buChar char="q"/>
            </a:pPr>
            <a:r>
              <a:rPr lang="en-US" sz="1800" b="1" i="0" kern="1200" spc="300" dirty="0">
                <a:solidFill>
                  <a:srgbClr val="ECECEC"/>
                </a:solidFill>
                <a:effectLst/>
                <a:latin typeface="Trebuchet MS" panose="020B0603020202020204" pitchFamily="34" charset="0"/>
                <a:ea typeface="+mn-ea"/>
                <a:cs typeface="Arial" panose="020B0604020202020204" pitchFamily="34" charset="0"/>
              </a:rPr>
              <a:t>Module Diagram</a:t>
            </a:r>
            <a:endParaRPr lang="en-US" i="0" dirty="0"/>
          </a:p>
          <a:p>
            <a:pPr marL="283464" indent="-283464" algn="l" rtl="0" eaLnBrk="1" latinLnBrk="0" hangingPunct="1">
              <a:lnSpc>
                <a:spcPct val="90000"/>
              </a:lnSpc>
              <a:spcBef>
                <a:spcPts val="1000"/>
              </a:spcBef>
              <a:spcAft>
                <a:spcPts val="0"/>
              </a:spcAft>
              <a:buClr>
                <a:schemeClr val="accent2"/>
              </a:buClr>
              <a:buSzPts val="1600"/>
              <a:buFont typeface="Wingdings" panose="05000000000000000000" pitchFamily="2" charset="2"/>
              <a:buChar char="q"/>
            </a:pPr>
            <a:r>
              <a:rPr lang="en-US" sz="1800" b="1" kern="1200" spc="300" dirty="0">
                <a:solidFill>
                  <a:srgbClr val="ECECEC"/>
                </a:solidFill>
                <a:effectLst/>
                <a:latin typeface="Trebuchet MS" panose="020B0603020202020204" pitchFamily="34" charset="0"/>
                <a:ea typeface="+mn-ea"/>
                <a:cs typeface="Arial" panose="020B0604020202020204" pitchFamily="34" charset="0"/>
              </a:rPr>
              <a:t>Result</a:t>
            </a:r>
            <a:endParaRPr lang="en-US" dirty="0"/>
          </a:p>
          <a:p>
            <a:pPr marL="283464" indent="-283464" algn="l" rtl="0" eaLnBrk="1" latinLnBrk="0" hangingPunct="1">
              <a:lnSpc>
                <a:spcPct val="90000"/>
              </a:lnSpc>
              <a:spcBef>
                <a:spcPts val="1000"/>
              </a:spcBef>
              <a:spcAft>
                <a:spcPts val="0"/>
              </a:spcAft>
              <a:buClr>
                <a:schemeClr val="accent2"/>
              </a:buClr>
              <a:buSzPts val="1600"/>
              <a:buFont typeface="Wingdings" panose="05000000000000000000" pitchFamily="2" charset="2"/>
              <a:buChar char="q"/>
            </a:pPr>
            <a:r>
              <a:rPr lang="en-US" sz="1800" b="1" kern="1200" spc="300" dirty="0">
                <a:solidFill>
                  <a:srgbClr val="ECECEC"/>
                </a:solidFill>
                <a:effectLst/>
                <a:latin typeface="Trebuchet MS" panose="020B0603020202020204" pitchFamily="34" charset="0"/>
                <a:ea typeface="+mn-ea"/>
                <a:cs typeface="Arial" panose="020B0604020202020204" pitchFamily="34" charset="0"/>
              </a:rPr>
              <a:t>Implementation </a:t>
            </a:r>
            <a:endParaRPr lang="en-US" dirty="0"/>
          </a:p>
          <a:p>
            <a:pPr marL="283464" indent="-283464" algn="l" rtl="0" eaLnBrk="1" latinLnBrk="0" hangingPunct="1">
              <a:lnSpc>
                <a:spcPct val="90000"/>
              </a:lnSpc>
              <a:spcBef>
                <a:spcPts val="1000"/>
              </a:spcBef>
              <a:spcAft>
                <a:spcPts val="0"/>
              </a:spcAft>
              <a:buClr>
                <a:schemeClr val="accent2"/>
              </a:buClr>
              <a:buSzPts val="1600"/>
              <a:buFont typeface="Wingdings" panose="05000000000000000000" pitchFamily="2" charset="2"/>
              <a:buChar char="q"/>
            </a:pPr>
            <a:r>
              <a:rPr lang="en-US" sz="1800" b="1" kern="1200" spc="300" dirty="0">
                <a:solidFill>
                  <a:srgbClr val="ECECEC"/>
                </a:solidFill>
                <a:effectLst/>
                <a:latin typeface="Trebuchet MS" panose="020B0603020202020204" pitchFamily="34" charset="0"/>
                <a:ea typeface="+mn-ea"/>
                <a:cs typeface="Arial" panose="020B0604020202020204" pitchFamily="34" charset="0"/>
              </a:rPr>
              <a:t>Future Enhancements</a:t>
            </a:r>
            <a:endParaRPr lang="en-US" dirty="0"/>
          </a:p>
          <a:p>
            <a:pPr marL="283464" indent="-283464" algn="l" rtl="0" eaLnBrk="1" latinLnBrk="0" hangingPunct="1">
              <a:lnSpc>
                <a:spcPct val="90000"/>
              </a:lnSpc>
              <a:spcBef>
                <a:spcPts val="1000"/>
              </a:spcBef>
              <a:spcAft>
                <a:spcPts val="0"/>
              </a:spcAft>
              <a:buClr>
                <a:schemeClr val="accent2"/>
              </a:buClr>
              <a:buSzPts val="1600"/>
              <a:buFont typeface="Wingdings" panose="05000000000000000000" pitchFamily="2" charset="2"/>
              <a:buChar char="q"/>
            </a:pPr>
            <a:r>
              <a:rPr lang="en-US" sz="1800" b="1" kern="1200" spc="300" dirty="0">
                <a:solidFill>
                  <a:srgbClr val="ECECEC"/>
                </a:solidFill>
                <a:effectLst/>
                <a:latin typeface="Trebuchet MS" panose="020B0603020202020204" pitchFamily="34" charset="0"/>
                <a:ea typeface="+mn-ea"/>
                <a:cs typeface="Arial" panose="020B0604020202020204" pitchFamily="34" charset="0"/>
              </a:rPr>
              <a:t>References</a:t>
            </a:r>
            <a:endParaRPr lang="en-US" dirty="0">
              <a:effectLst/>
            </a:endParaRPr>
          </a:p>
          <a:p>
            <a:pPr marL="285750" indent="-285750">
              <a:buFont typeface="Wingdings" panose="05000000000000000000" pitchFamily="2" charset="2"/>
              <a:buChar char="q"/>
            </a:pPr>
            <a:endParaRPr lang="en-US" dirty="0">
              <a:latin typeface="+mj-lt"/>
            </a:endParaRP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1DDDF-C24C-CA92-62C8-ED6DA6673835}"/>
              </a:ext>
            </a:extLst>
          </p:cNvPr>
          <p:cNvSpPr>
            <a:spLocks noGrp="1"/>
          </p:cNvSpPr>
          <p:nvPr>
            <p:ph type="ctrTitle"/>
          </p:nvPr>
        </p:nvSpPr>
        <p:spPr>
          <a:xfrm>
            <a:off x="2557272" y="2807208"/>
            <a:ext cx="7077456" cy="1243584"/>
          </a:xfrm>
        </p:spPr>
        <p:txBody>
          <a:bodyPr anchor="ctr" anchorCtr="1"/>
          <a:lstStyle/>
          <a:p>
            <a:pPr algn="ctr"/>
            <a:r>
              <a:rPr lang="en-US" dirty="0">
                <a:solidFill>
                  <a:schemeClr val="accent2"/>
                </a:solidFill>
              </a:rPr>
              <a:t>INTRODUCTION</a:t>
            </a:r>
            <a:endParaRPr lang="en-US" dirty="0"/>
          </a:p>
        </p:txBody>
      </p:sp>
    </p:spTree>
    <p:extLst>
      <p:ext uri="{BB962C8B-B14F-4D97-AF65-F5344CB8AC3E}">
        <p14:creationId xmlns:p14="http://schemas.microsoft.com/office/powerpoint/2010/main" val="3672960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D4CE2E5-8507-93C3-59F0-DF5439BAB47C}"/>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4" name="Content Placeholder 3">
            <a:extLst>
              <a:ext uri="{FF2B5EF4-FFF2-40B4-BE49-F238E27FC236}">
                <a16:creationId xmlns:a16="http://schemas.microsoft.com/office/drawing/2014/main" id="{4F9C517C-3CAF-EC1E-016B-20E5E5F9357F}"/>
              </a:ext>
            </a:extLst>
          </p:cNvPr>
          <p:cNvSpPr>
            <a:spLocks noGrp="1"/>
          </p:cNvSpPr>
          <p:nvPr>
            <p:ph idx="1"/>
          </p:nvPr>
        </p:nvSpPr>
        <p:spPr>
          <a:xfrm>
            <a:off x="1087178" y="1825625"/>
            <a:ext cx="9708340" cy="4351338"/>
          </a:xfrm>
        </p:spPr>
        <p:txBody>
          <a:bodyPr>
            <a:normAutofit/>
          </a:bodyPr>
          <a:lstStyle/>
          <a:p>
            <a:r>
              <a:rPr lang="en-US" dirty="0"/>
              <a:t>In today's online landscape, advertisements are ubiquitous, often intrusive, and can significantly impact user experience. </a:t>
            </a:r>
          </a:p>
          <a:p>
            <a:r>
              <a:rPr lang="en-US" dirty="0"/>
              <a:t>Traditional ad blocking methods, such as browser extensions and host file manipulation, offer users some control over the ads they see while browsing the web.</a:t>
            </a:r>
          </a:p>
          <a:p>
            <a:r>
              <a:rPr lang="en-US" dirty="0"/>
              <a:t>However, these methods have limitations, including their inability to provide network-wide ad blocking and their reliance on individual device configurations.</a:t>
            </a:r>
          </a:p>
        </p:txBody>
      </p:sp>
    </p:spTree>
    <p:extLst>
      <p:ext uri="{BB962C8B-B14F-4D97-AF65-F5344CB8AC3E}">
        <p14:creationId xmlns:p14="http://schemas.microsoft.com/office/powerpoint/2010/main" val="2895014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a:xfrm>
            <a:off x="443366" y="1825625"/>
            <a:ext cx="7310374" cy="4351338"/>
          </a:xfrm>
        </p:spPr>
        <p:txBody>
          <a:bodyPr>
            <a:normAutofit fontScale="92500" lnSpcReduction="10000"/>
          </a:bodyPr>
          <a:lstStyle/>
          <a:p>
            <a:r>
              <a:rPr lang="en-US" dirty="0"/>
              <a:t>To address these limitations, network-level ad blocking solutions have emerged, offering users a more comprehensive approach to ad blocking. One such solution is </a:t>
            </a:r>
            <a:r>
              <a:rPr lang="en-US" b="1" dirty="0"/>
              <a:t>Pi-hole</a:t>
            </a:r>
            <a:r>
              <a:rPr lang="en-US" dirty="0"/>
              <a:t>.</a:t>
            </a:r>
          </a:p>
          <a:p>
            <a:r>
              <a:rPr lang="en-US" dirty="0"/>
              <a:t>Pi-hole provides users with a faster, cleaner, and more private browsing experience across all their devices. In this presentation, </a:t>
            </a:r>
          </a:p>
          <a:p>
            <a:r>
              <a:rPr lang="en-US" dirty="0"/>
              <a:t>We'll explore how Pi-hole, along with other tools like </a:t>
            </a:r>
            <a:r>
              <a:rPr lang="en-US" b="1" dirty="0"/>
              <a:t>Unbound</a:t>
            </a:r>
            <a:r>
              <a:rPr lang="en-US" dirty="0"/>
              <a:t> and dynamic ad-list generation, offering users greater control over their online experience and enhancing privacy and security in the process.</a:t>
            </a:r>
          </a:p>
        </p:txBody>
      </p:sp>
      <p:pic>
        <p:nvPicPr>
          <p:cNvPr id="6" name="Picture 5">
            <a:extLst>
              <a:ext uri="{FF2B5EF4-FFF2-40B4-BE49-F238E27FC236}">
                <a16:creationId xmlns:a16="http://schemas.microsoft.com/office/drawing/2014/main" id="{E6411084-C7CD-845B-A3FC-CCDA43716A71}"/>
              </a:ext>
            </a:extLst>
          </p:cNvPr>
          <p:cNvPicPr>
            <a:picLocks noChangeAspect="1"/>
          </p:cNvPicPr>
          <p:nvPr/>
        </p:nvPicPr>
        <p:blipFill>
          <a:blip r:embed="rId2"/>
          <a:stretch>
            <a:fillRect/>
          </a:stretch>
        </p:blipFill>
        <p:spPr>
          <a:xfrm>
            <a:off x="8167589" y="1825625"/>
            <a:ext cx="3581045" cy="4021494"/>
          </a:xfrm>
          <a:prstGeom prst="rect">
            <a:avLst/>
          </a:prstGeom>
        </p:spPr>
      </p:pic>
    </p:spTree>
    <p:extLst>
      <p:ext uri="{BB962C8B-B14F-4D97-AF65-F5344CB8AC3E}">
        <p14:creationId xmlns:p14="http://schemas.microsoft.com/office/powerpoint/2010/main" val="2237573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1DDDF-C24C-CA92-62C8-ED6DA6673835}"/>
              </a:ext>
            </a:extLst>
          </p:cNvPr>
          <p:cNvSpPr>
            <a:spLocks noGrp="1"/>
          </p:cNvSpPr>
          <p:nvPr>
            <p:ph type="ctrTitle"/>
          </p:nvPr>
        </p:nvSpPr>
        <p:spPr/>
        <p:txBody>
          <a:bodyPr/>
          <a:lstStyle/>
          <a:p>
            <a:pPr algn="ctr"/>
            <a:r>
              <a:rPr lang="en-US" dirty="0">
                <a:solidFill>
                  <a:schemeClr val="accent2"/>
                </a:solidFill>
              </a:rPr>
              <a:t>ABSTRACT</a:t>
            </a:r>
            <a:endParaRPr lang="en-US" dirty="0"/>
          </a:p>
        </p:txBody>
      </p:sp>
    </p:spTree>
    <p:extLst>
      <p:ext uri="{BB962C8B-B14F-4D97-AF65-F5344CB8AC3E}">
        <p14:creationId xmlns:p14="http://schemas.microsoft.com/office/powerpoint/2010/main" val="1224701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DFB011-BF8F-CCAD-22CE-9A5AB3772656}"/>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4" name="Content Placeholder 3">
            <a:extLst>
              <a:ext uri="{FF2B5EF4-FFF2-40B4-BE49-F238E27FC236}">
                <a16:creationId xmlns:a16="http://schemas.microsoft.com/office/drawing/2014/main" id="{234EF77D-9AD3-582D-A988-077F899489E8}"/>
              </a:ext>
            </a:extLst>
          </p:cNvPr>
          <p:cNvSpPr>
            <a:spLocks noGrp="1"/>
          </p:cNvSpPr>
          <p:nvPr>
            <p:ph idx="1"/>
          </p:nvPr>
        </p:nvSpPr>
        <p:spPr>
          <a:xfrm>
            <a:off x="488382" y="1561241"/>
            <a:ext cx="11215235" cy="4351338"/>
          </a:xfrm>
        </p:spPr>
        <p:txBody>
          <a:bodyPr>
            <a:normAutofit/>
          </a:bodyPr>
          <a:lstStyle/>
          <a:p>
            <a:r>
              <a:rPr lang="en-US" dirty="0"/>
              <a:t>This project proposes the development of a comprehensive ad-blocking and network security solution using Raspberry Pi, Pi-hole, Unbound DNS, and Suricata rules. </a:t>
            </a:r>
          </a:p>
          <a:p>
            <a:r>
              <a:rPr lang="en-US" dirty="0"/>
              <a:t>The integrated system offers an efficient approach to block ads at the network level while simultaneously enhancing network security through real-time monitoring and blocking of malicious activities. </a:t>
            </a:r>
          </a:p>
          <a:p>
            <a:r>
              <a:rPr lang="en-US" dirty="0"/>
              <a:t>Pi-hole is deployed to block ads network-wide, ensuring all connected devices benefit from ad blocking without requiring individual configurations. </a:t>
            </a:r>
          </a:p>
        </p:txBody>
      </p:sp>
    </p:spTree>
    <p:extLst>
      <p:ext uri="{BB962C8B-B14F-4D97-AF65-F5344CB8AC3E}">
        <p14:creationId xmlns:p14="http://schemas.microsoft.com/office/powerpoint/2010/main" val="4272904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F76E124-3DC7-8E4E-3715-6A772594C7F7}"/>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sp>
        <p:nvSpPr>
          <p:cNvPr id="4" name="Content Placeholder 3">
            <a:extLst>
              <a:ext uri="{FF2B5EF4-FFF2-40B4-BE49-F238E27FC236}">
                <a16:creationId xmlns:a16="http://schemas.microsoft.com/office/drawing/2014/main" id="{2BCFDF96-FD85-683F-0672-87AD4B12ED36}"/>
              </a:ext>
            </a:extLst>
          </p:cNvPr>
          <p:cNvSpPr>
            <a:spLocks noGrp="1"/>
          </p:cNvSpPr>
          <p:nvPr>
            <p:ph idx="1"/>
          </p:nvPr>
        </p:nvSpPr>
        <p:spPr>
          <a:xfrm>
            <a:off x="443365" y="1732318"/>
            <a:ext cx="11215235" cy="4351338"/>
          </a:xfrm>
        </p:spPr>
        <p:txBody>
          <a:bodyPr>
            <a:normAutofit fontScale="92500"/>
          </a:bodyPr>
          <a:lstStyle/>
          <a:p>
            <a:r>
              <a:rPr lang="en-US" dirty="0"/>
              <a:t>The integration of Pi-hole with Unbound DNS provides secure and private DNS resolution, enhancing user privacy and network security.</a:t>
            </a:r>
          </a:p>
          <a:p>
            <a:r>
              <a:rPr lang="en-US" dirty="0"/>
              <a:t> Additionally, Suricata rules are implemented to strengthen network security by monitoring and blocking malicious activities in real-time. </a:t>
            </a:r>
          </a:p>
          <a:p>
            <a:r>
              <a:rPr lang="en-US" dirty="0"/>
              <a:t>To ensure the system remains up-to-date with the latest security measures, a Python script automates the process of updating ad lists and Suricata rules. </a:t>
            </a:r>
          </a:p>
          <a:p>
            <a:r>
              <a:rPr lang="en-US" dirty="0"/>
              <a:t>This project aims to provide an effective solution for ad blocking and network security needs within the local network, offering improved ad blocking, enhanced network security, and more efficient DNS resolution.</a:t>
            </a:r>
          </a:p>
        </p:txBody>
      </p:sp>
    </p:spTree>
    <p:extLst>
      <p:ext uri="{BB962C8B-B14F-4D97-AF65-F5344CB8AC3E}">
        <p14:creationId xmlns:p14="http://schemas.microsoft.com/office/powerpoint/2010/main" val="4137813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29C20-90CD-D727-69F2-713FB348445E}"/>
              </a:ext>
            </a:extLst>
          </p:cNvPr>
          <p:cNvSpPr>
            <a:spLocks noGrp="1"/>
          </p:cNvSpPr>
          <p:nvPr>
            <p:ph type="ctrTitle"/>
          </p:nvPr>
        </p:nvSpPr>
        <p:spPr>
          <a:xfrm>
            <a:off x="2557272" y="2807208"/>
            <a:ext cx="7077456" cy="1243584"/>
          </a:xfrm>
        </p:spPr>
        <p:txBody>
          <a:bodyPr anchor="ctr"/>
          <a:lstStyle/>
          <a:p>
            <a:pPr algn="ctr"/>
            <a:r>
              <a:rPr lang="en-US" dirty="0"/>
              <a:t>OBJECTIVE</a:t>
            </a:r>
          </a:p>
        </p:txBody>
      </p:sp>
    </p:spTree>
    <p:extLst>
      <p:ext uri="{BB962C8B-B14F-4D97-AF65-F5344CB8AC3E}">
        <p14:creationId xmlns:p14="http://schemas.microsoft.com/office/powerpoint/2010/main" val="3471954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20F68F8-FB8D-AA35-71C0-7CF4D5A98607}"/>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Content Placeholder 3">
            <a:extLst>
              <a:ext uri="{FF2B5EF4-FFF2-40B4-BE49-F238E27FC236}">
                <a16:creationId xmlns:a16="http://schemas.microsoft.com/office/drawing/2014/main" id="{590F9412-DE54-9923-BA25-1537A7C13005}"/>
              </a:ext>
            </a:extLst>
          </p:cNvPr>
          <p:cNvSpPr>
            <a:spLocks noGrp="1"/>
          </p:cNvSpPr>
          <p:nvPr>
            <p:ph idx="1"/>
          </p:nvPr>
        </p:nvSpPr>
        <p:spPr/>
        <p:txBody>
          <a:bodyPr>
            <a:normAutofit lnSpcReduction="10000"/>
          </a:bodyPr>
          <a:lstStyle/>
          <a:p>
            <a:r>
              <a:rPr lang="en-US" b="1" dirty="0">
                <a:solidFill>
                  <a:schemeClr val="accent1">
                    <a:lumMod val="60000"/>
                    <a:lumOff val="40000"/>
                  </a:schemeClr>
                </a:solidFill>
              </a:rPr>
              <a:t>Develop an Integrated Solution</a:t>
            </a:r>
            <a:r>
              <a:rPr lang="en-US" dirty="0">
                <a:solidFill>
                  <a:schemeClr val="accent1">
                    <a:lumMod val="60000"/>
                    <a:lumOff val="40000"/>
                  </a:schemeClr>
                </a:solidFill>
              </a:rPr>
              <a:t>: </a:t>
            </a:r>
            <a:r>
              <a:rPr lang="en-US" dirty="0"/>
              <a:t>Create a comprehensive ad-blocking and network security system using Raspberry Pi, Pi-hole, Unbound DNS, and Suricata rules to address the limitations of existing ad-blocking solutions.</a:t>
            </a:r>
          </a:p>
          <a:p>
            <a:r>
              <a:rPr lang="en-US" b="1" dirty="0">
                <a:solidFill>
                  <a:schemeClr val="accent1">
                    <a:lumMod val="60000"/>
                    <a:lumOff val="40000"/>
                  </a:schemeClr>
                </a:solidFill>
              </a:rPr>
              <a:t>Network-wide Ad Blocking:</a:t>
            </a:r>
            <a:r>
              <a:rPr lang="en-US" b="1" dirty="0"/>
              <a:t> </a:t>
            </a:r>
            <a:r>
              <a:rPr lang="en-US" dirty="0"/>
              <a:t>Implement Pi-hole to block ads network-wide, ensuring all devices connected to the local network benefit from ad blocking without requiring individual configurations.</a:t>
            </a:r>
          </a:p>
          <a:p>
            <a:r>
              <a:rPr lang="en-US" b="1" dirty="0">
                <a:solidFill>
                  <a:schemeClr val="accent1">
                    <a:lumMod val="60000"/>
                    <a:lumOff val="40000"/>
                  </a:schemeClr>
                </a:solidFill>
              </a:rPr>
              <a:t>Enhance Network Security: </a:t>
            </a:r>
            <a:r>
              <a:rPr lang="en-US" dirty="0"/>
              <a:t>Integrate Unbound DNS and Suricata rules to enhance network security by providing secure and private DNS resolution and real-time monitoring and blocking of malicious activities.</a:t>
            </a:r>
          </a:p>
        </p:txBody>
      </p:sp>
    </p:spTree>
    <p:extLst>
      <p:ext uri="{BB962C8B-B14F-4D97-AF65-F5344CB8AC3E}">
        <p14:creationId xmlns:p14="http://schemas.microsoft.com/office/powerpoint/2010/main" val="3808198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B8A342-9425-D4C4-DAD1-E568C432EA2E}"/>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Content Placeholder 3">
            <a:extLst>
              <a:ext uri="{FF2B5EF4-FFF2-40B4-BE49-F238E27FC236}">
                <a16:creationId xmlns:a16="http://schemas.microsoft.com/office/drawing/2014/main" id="{6CFD151A-B2D1-B25C-6995-5A3C7BB42775}"/>
              </a:ext>
            </a:extLst>
          </p:cNvPr>
          <p:cNvSpPr>
            <a:spLocks noGrp="1"/>
          </p:cNvSpPr>
          <p:nvPr>
            <p:ph idx="1"/>
          </p:nvPr>
        </p:nvSpPr>
        <p:spPr/>
        <p:txBody>
          <a:bodyPr/>
          <a:lstStyle/>
          <a:p>
            <a:r>
              <a:rPr lang="en-US" b="1" dirty="0">
                <a:solidFill>
                  <a:schemeClr val="accent1">
                    <a:lumMod val="60000"/>
                    <a:lumOff val="40000"/>
                  </a:schemeClr>
                </a:solidFill>
              </a:rPr>
              <a:t>Automation of Update Process: </a:t>
            </a:r>
            <a:r>
              <a:rPr lang="en-US" dirty="0"/>
              <a:t>Develop a Python script to automate the process of updating ad lists and Suricata rules, ensuring the system remains up-to-date with the latest security measures.</a:t>
            </a:r>
          </a:p>
          <a:p>
            <a:r>
              <a:rPr lang="en-US" b="1" dirty="0">
                <a:solidFill>
                  <a:schemeClr val="accent1">
                    <a:lumMod val="60000"/>
                    <a:lumOff val="40000"/>
                  </a:schemeClr>
                </a:solidFill>
              </a:rPr>
              <a:t>Provide Improved Ad Blocking and Network Security: </a:t>
            </a:r>
            <a:r>
              <a:rPr lang="en-US" dirty="0"/>
              <a:t>Offer an efficient and effective solution for ad blocking and network security needs within the local network, ensuring improved ad blocking, enhanced network security, and more efficient DNS resolution</a:t>
            </a:r>
          </a:p>
        </p:txBody>
      </p:sp>
    </p:spTree>
    <p:extLst>
      <p:ext uri="{BB962C8B-B14F-4D97-AF65-F5344CB8AC3E}">
        <p14:creationId xmlns:p14="http://schemas.microsoft.com/office/powerpoint/2010/main" val="1194416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7B2A9-487A-5648-20D7-730B49C7BE87}"/>
              </a:ext>
            </a:extLst>
          </p:cNvPr>
          <p:cNvSpPr>
            <a:spLocks noGrp="1"/>
          </p:cNvSpPr>
          <p:nvPr>
            <p:ph type="ctrTitle"/>
          </p:nvPr>
        </p:nvSpPr>
        <p:spPr>
          <a:xfrm>
            <a:off x="2854794" y="2807208"/>
            <a:ext cx="7511515" cy="1243584"/>
          </a:xfrm>
        </p:spPr>
        <p:txBody>
          <a:bodyPr anchor="ctr" anchorCtr="1"/>
          <a:lstStyle/>
          <a:p>
            <a:r>
              <a:rPr lang="en-US" dirty="0"/>
              <a:t>LITERATURE SURVEY</a:t>
            </a:r>
          </a:p>
        </p:txBody>
      </p:sp>
    </p:spTree>
    <p:extLst>
      <p:ext uri="{BB962C8B-B14F-4D97-AF65-F5344CB8AC3E}">
        <p14:creationId xmlns:p14="http://schemas.microsoft.com/office/powerpoint/2010/main" val="2964924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00FC243-A5AB-E630-451E-7B728DAF2544}"/>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sp>
        <p:nvSpPr>
          <p:cNvPr id="4" name="Content Placeholder 3">
            <a:extLst>
              <a:ext uri="{FF2B5EF4-FFF2-40B4-BE49-F238E27FC236}">
                <a16:creationId xmlns:a16="http://schemas.microsoft.com/office/drawing/2014/main" id="{CC2160A2-5DE5-09F5-9C14-9BEE1F7A854B}"/>
              </a:ext>
            </a:extLst>
          </p:cNvPr>
          <p:cNvSpPr>
            <a:spLocks noGrp="1"/>
          </p:cNvSpPr>
          <p:nvPr>
            <p:ph idx="1"/>
          </p:nvPr>
        </p:nvSpPr>
        <p:spPr>
          <a:xfrm>
            <a:off x="443365" y="1544270"/>
            <a:ext cx="11215235" cy="4663489"/>
          </a:xfrm>
        </p:spPr>
        <p:txBody>
          <a:bodyPr anchor="ctr">
            <a:normAutofit lnSpcReduction="10000"/>
          </a:bodyPr>
          <a:lstStyle/>
          <a:p>
            <a:pPr marL="0" indent="0" algn="ctr">
              <a:buNone/>
            </a:pPr>
            <a:r>
              <a:rPr lang="en-US" b="1" dirty="0">
                <a:solidFill>
                  <a:schemeClr val="accent1">
                    <a:lumMod val="60000"/>
                    <a:lumOff val="40000"/>
                  </a:schemeClr>
                </a:solidFill>
              </a:rPr>
              <a:t> "Ad Blocking and Counter-Ad Blocking Ad Blocking and Counter-Ad Blocking: Analysis of Online Ad Blocker Usage “</a:t>
            </a:r>
          </a:p>
          <a:p>
            <a:r>
              <a:rPr lang="en-US" dirty="0"/>
              <a:t>Authors: Shuai Zhao , Chong Wang, Achir Kalra,  Leon Vaks. </a:t>
            </a:r>
          </a:p>
          <a:p>
            <a:r>
              <a:rPr lang="en-US" dirty="0"/>
              <a:t>Published in: May 2018 Americas Conference on Information Systems (Research Gate)</a:t>
            </a:r>
          </a:p>
          <a:p>
            <a:r>
              <a:rPr lang="en-US" dirty="0"/>
              <a:t>Summary: This study investigates the factors influencing ad blocker usage within the context of the online advertising industry. Given the rapid increase in ad blocker adoption and its adverse effects on publishers and advertisers, many companies have implemented counter-ad blocking strategies. However, some have discontinued these strategies due to a lack of understanding of user ad blocking behavior.</a:t>
            </a:r>
          </a:p>
        </p:txBody>
      </p:sp>
    </p:spTree>
    <p:extLst>
      <p:ext uri="{BB962C8B-B14F-4D97-AF65-F5344CB8AC3E}">
        <p14:creationId xmlns:p14="http://schemas.microsoft.com/office/powerpoint/2010/main" val="3090399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00FC243-A5AB-E630-451E-7B728DAF2544}"/>
              </a:ext>
            </a:extLst>
          </p:cNvPr>
          <p:cNvSpPr>
            <a:spLocks noGrp="1"/>
          </p:cNvSpPr>
          <p:nvPr>
            <p:ph type="sldNum" sz="quarter" idx="12"/>
          </p:nvPr>
        </p:nvSpPr>
        <p:spPr/>
        <p:txBody>
          <a:bodyPr/>
          <a:lstStyle/>
          <a:p>
            <a:fld id="{C263D6C4-4840-40CC-AC84-17E24B3B7BDE}" type="slidenum">
              <a:rPr lang="en-US" noProof="0" smtClean="0"/>
              <a:pPr/>
              <a:t>15</a:t>
            </a:fld>
            <a:endParaRPr lang="en-US" noProof="0" dirty="0"/>
          </a:p>
        </p:txBody>
      </p:sp>
      <p:sp>
        <p:nvSpPr>
          <p:cNvPr id="4" name="Content Placeholder 3">
            <a:extLst>
              <a:ext uri="{FF2B5EF4-FFF2-40B4-BE49-F238E27FC236}">
                <a16:creationId xmlns:a16="http://schemas.microsoft.com/office/drawing/2014/main" id="{CC2160A2-5DE5-09F5-9C14-9BEE1F7A854B}"/>
              </a:ext>
            </a:extLst>
          </p:cNvPr>
          <p:cNvSpPr>
            <a:spLocks noGrp="1"/>
          </p:cNvSpPr>
          <p:nvPr>
            <p:ph idx="1"/>
          </p:nvPr>
        </p:nvSpPr>
        <p:spPr>
          <a:xfrm>
            <a:off x="488382" y="1494029"/>
            <a:ext cx="11215235" cy="4351338"/>
          </a:xfrm>
        </p:spPr>
        <p:txBody>
          <a:bodyPr/>
          <a:lstStyle/>
          <a:p>
            <a:pPr marL="0" indent="0" algn="ctr">
              <a:buNone/>
            </a:pPr>
            <a:r>
              <a:rPr lang="en-US" b="1" dirty="0">
                <a:solidFill>
                  <a:schemeClr val="accent1">
                    <a:lumMod val="60000"/>
                    <a:lumOff val="40000"/>
                  </a:schemeClr>
                </a:solidFill>
              </a:rPr>
              <a:t>"Securing the Home Network with Raspberry Pi and Pi-Hole"</a:t>
            </a:r>
          </a:p>
          <a:p>
            <a:r>
              <a:rPr lang="en-US" dirty="0"/>
              <a:t>Authors: Alex Dib, Andrew Bechard, Jesse Johnston, Anthony R. Curtis</a:t>
            </a:r>
          </a:p>
          <a:p>
            <a:r>
              <a:rPr lang="en-US" dirty="0"/>
              <a:t>Published in: 2019 IEEE MIT Undergraduate Research Technology Conference (URTC)</a:t>
            </a:r>
          </a:p>
          <a:p>
            <a:r>
              <a:rPr lang="en-US" dirty="0"/>
              <a:t>Summary: This paper discusses the implementation of Pi-hole on Raspberry Pi for ad blocking and network security. It explores the effectiveness of Pi-hole in blocking ads and reducing network traffic, as well as its role in enhancing network security by blocking malicious domains.</a:t>
            </a:r>
          </a:p>
        </p:txBody>
      </p:sp>
    </p:spTree>
    <p:extLst>
      <p:ext uri="{BB962C8B-B14F-4D97-AF65-F5344CB8AC3E}">
        <p14:creationId xmlns:p14="http://schemas.microsoft.com/office/powerpoint/2010/main" val="3989520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00FC243-A5AB-E630-451E-7B728DAF2544}"/>
              </a:ext>
            </a:extLst>
          </p:cNvPr>
          <p:cNvSpPr>
            <a:spLocks noGrp="1"/>
          </p:cNvSpPr>
          <p:nvPr>
            <p:ph type="sldNum" sz="quarter" idx="12"/>
          </p:nvPr>
        </p:nvSpPr>
        <p:spPr/>
        <p:txBody>
          <a:bodyPr/>
          <a:lstStyle/>
          <a:p>
            <a:fld id="{C263D6C4-4840-40CC-AC84-17E24B3B7BDE}" type="slidenum">
              <a:rPr lang="en-US" noProof="0" smtClean="0"/>
              <a:pPr/>
              <a:t>16</a:t>
            </a:fld>
            <a:endParaRPr lang="en-US" noProof="0" dirty="0"/>
          </a:p>
        </p:txBody>
      </p:sp>
      <p:sp>
        <p:nvSpPr>
          <p:cNvPr id="4" name="Content Placeholder 3">
            <a:extLst>
              <a:ext uri="{FF2B5EF4-FFF2-40B4-BE49-F238E27FC236}">
                <a16:creationId xmlns:a16="http://schemas.microsoft.com/office/drawing/2014/main" id="{CC2160A2-5DE5-09F5-9C14-9BEE1F7A854B}"/>
              </a:ext>
            </a:extLst>
          </p:cNvPr>
          <p:cNvSpPr>
            <a:spLocks noGrp="1"/>
          </p:cNvSpPr>
          <p:nvPr>
            <p:ph idx="1"/>
          </p:nvPr>
        </p:nvSpPr>
        <p:spPr>
          <a:xfrm>
            <a:off x="379106" y="1419023"/>
            <a:ext cx="11433787" cy="5078614"/>
          </a:xfrm>
        </p:spPr>
        <p:txBody>
          <a:bodyPr anchor="ctr"/>
          <a:lstStyle/>
          <a:p>
            <a:pPr marL="0" indent="0" algn="ctr">
              <a:buNone/>
            </a:pPr>
            <a:r>
              <a:rPr lang="en-US" b="1" dirty="0">
                <a:solidFill>
                  <a:schemeClr val="accent1">
                    <a:lumMod val="60000"/>
                    <a:lumOff val="40000"/>
                  </a:schemeClr>
                </a:solidFill>
              </a:rPr>
              <a:t>"Enhancing Network Security using Raspberry Pi based IDS/IPS"</a:t>
            </a:r>
          </a:p>
          <a:p>
            <a:r>
              <a:rPr lang="en-US" dirty="0"/>
              <a:t>Authors: Akshay Agarwal, Gaurav Trivedi</a:t>
            </a:r>
          </a:p>
          <a:p>
            <a:r>
              <a:rPr lang="en-US" dirty="0"/>
              <a:t>Published in: 2019 International Conference on Vision Towards Emerging Trends in Communication and Networking </a:t>
            </a:r>
          </a:p>
          <a:p>
            <a:r>
              <a:rPr lang="en-US" dirty="0"/>
              <a:t>Summary: This paper presents a Raspberry Pi-based Intrusion Detection System (IDS) and Intrusion Prevention System (IPS) using Suricata. It discusses the implementation of Suricata rules for real-time monitoring and blocking of malicious activities, thereby enhancing network security.</a:t>
            </a:r>
          </a:p>
        </p:txBody>
      </p:sp>
    </p:spTree>
    <p:extLst>
      <p:ext uri="{BB962C8B-B14F-4D97-AF65-F5344CB8AC3E}">
        <p14:creationId xmlns:p14="http://schemas.microsoft.com/office/powerpoint/2010/main" val="2465024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7E764-6A92-2483-96F8-966E4BCF3187}"/>
              </a:ext>
            </a:extLst>
          </p:cNvPr>
          <p:cNvSpPr>
            <a:spLocks noGrp="1"/>
          </p:cNvSpPr>
          <p:nvPr>
            <p:ph type="ctrTitle"/>
          </p:nvPr>
        </p:nvSpPr>
        <p:spPr>
          <a:xfrm>
            <a:off x="2182990" y="2543339"/>
            <a:ext cx="9430512" cy="1243584"/>
          </a:xfrm>
        </p:spPr>
        <p:txBody>
          <a:bodyPr anchor="ctr"/>
          <a:lstStyle/>
          <a:p>
            <a:r>
              <a:rPr lang="en-US" dirty="0"/>
              <a:t>PROBLEM STATEMENT</a:t>
            </a:r>
          </a:p>
        </p:txBody>
      </p:sp>
    </p:spTree>
    <p:extLst>
      <p:ext uri="{BB962C8B-B14F-4D97-AF65-F5344CB8AC3E}">
        <p14:creationId xmlns:p14="http://schemas.microsoft.com/office/powerpoint/2010/main" val="4089427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18</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p:txBody>
          <a:bodyPr>
            <a:normAutofit/>
          </a:bodyPr>
          <a:lstStyle/>
          <a:p>
            <a:r>
              <a:rPr lang="en-US" dirty="0">
                <a:solidFill>
                  <a:schemeClr val="accent2"/>
                </a:solidFill>
              </a:rPr>
              <a:t>Content Blocking</a:t>
            </a:r>
            <a:r>
              <a:rPr lang="en-US" dirty="0"/>
              <a:t>: Despite their name, ad blockers often block more than just ads. For example, some ad-blocking software unintentionally blocks access to desired content unrelated to advertising. Users may need to whitelist specific sites to access certain features.</a:t>
            </a:r>
          </a:p>
          <a:p>
            <a:r>
              <a:rPr lang="en-US" dirty="0">
                <a:solidFill>
                  <a:schemeClr val="accent2"/>
                </a:solidFill>
              </a:rPr>
              <a:t>Data Privacy Risks</a:t>
            </a:r>
            <a:r>
              <a:rPr lang="en-US" dirty="0"/>
              <a:t>: Some ad blockers send users’ browsing behavior to third-party servers, which then pay for this information. This means your browsing history could be tracked without your knowledge.</a:t>
            </a:r>
          </a:p>
        </p:txBody>
      </p:sp>
    </p:spTree>
    <p:extLst>
      <p:ext uri="{BB962C8B-B14F-4D97-AF65-F5344CB8AC3E}">
        <p14:creationId xmlns:p14="http://schemas.microsoft.com/office/powerpoint/2010/main" val="4075597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19</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p:txBody>
          <a:bodyPr/>
          <a:lstStyle/>
          <a:p>
            <a:r>
              <a:rPr lang="en-US" dirty="0">
                <a:solidFill>
                  <a:schemeClr val="accent2"/>
                </a:solidFill>
              </a:rPr>
              <a:t>False Positives: </a:t>
            </a:r>
            <a:r>
              <a:rPr lang="en-US" dirty="0"/>
              <a:t>Ad blockers sometimes mistakenly block legitimate content. For instance, they might flag essential scripts or interactive elements as ads, disrupting the functionality of websites.</a:t>
            </a:r>
          </a:p>
          <a:p>
            <a:r>
              <a:rPr lang="en-US" dirty="0">
                <a:solidFill>
                  <a:schemeClr val="accent2"/>
                </a:solidFill>
              </a:rPr>
              <a:t>Dependency on Updates: </a:t>
            </a:r>
            <a:r>
              <a:rPr lang="en-US" dirty="0"/>
              <a:t>Ad blockers need regular updates to stay effective. If not updated, they might fail to block new ad formats or tracking techniques.</a:t>
            </a:r>
          </a:p>
          <a:p>
            <a:r>
              <a:rPr lang="en-US" dirty="0">
                <a:solidFill>
                  <a:schemeClr val="accent2"/>
                </a:solidFill>
              </a:rPr>
              <a:t>Complexity and Compatibility</a:t>
            </a:r>
            <a:r>
              <a:rPr lang="en-US" dirty="0"/>
              <a:t>: Ad blockers can be complex to configure, especially for non-technical users. Additionally, they may not work seamlessly with all browsers or platforms.</a:t>
            </a:r>
          </a:p>
          <a:p>
            <a:endParaRPr lang="en-US" dirty="0"/>
          </a:p>
        </p:txBody>
      </p:sp>
    </p:spTree>
    <p:extLst>
      <p:ext uri="{BB962C8B-B14F-4D97-AF65-F5344CB8AC3E}">
        <p14:creationId xmlns:p14="http://schemas.microsoft.com/office/powerpoint/2010/main" val="232224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E4C68-3C89-C596-D854-8BB9B35D54F5}"/>
              </a:ext>
            </a:extLst>
          </p:cNvPr>
          <p:cNvSpPr>
            <a:spLocks noGrp="1"/>
          </p:cNvSpPr>
          <p:nvPr>
            <p:ph type="ctrTitle"/>
          </p:nvPr>
        </p:nvSpPr>
        <p:spPr>
          <a:xfrm>
            <a:off x="2246936" y="2807208"/>
            <a:ext cx="7698128" cy="1243584"/>
          </a:xfrm>
        </p:spPr>
        <p:txBody>
          <a:bodyPr anchor="ctr" anchorCtr="1"/>
          <a:lstStyle/>
          <a:p>
            <a:r>
              <a:rPr lang="en-US" dirty="0"/>
              <a:t>PROPOSED SYSTEM</a:t>
            </a:r>
          </a:p>
        </p:txBody>
      </p:sp>
    </p:spTree>
    <p:extLst>
      <p:ext uri="{BB962C8B-B14F-4D97-AF65-F5344CB8AC3E}">
        <p14:creationId xmlns:p14="http://schemas.microsoft.com/office/powerpoint/2010/main" val="853154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21</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p:txBody>
          <a:bodyPr>
            <a:normAutofit/>
          </a:bodyPr>
          <a:lstStyle/>
          <a:p>
            <a:r>
              <a:rPr lang="en-US" dirty="0"/>
              <a:t>The proposed system addresses the limitations of the existing ad-blocking and network security setup by implementing a comprehensive solution using </a:t>
            </a:r>
          </a:p>
          <a:p>
            <a:pPr marL="0" indent="0" algn="ctr">
              <a:buNone/>
            </a:pPr>
            <a:r>
              <a:rPr lang="en-US" dirty="0"/>
              <a:t> </a:t>
            </a:r>
            <a:r>
              <a:rPr lang="en-US" b="1" dirty="0"/>
              <a:t>RaspberryPi - Pi-hole - Unbound DNS - Suricata rules. </a:t>
            </a:r>
          </a:p>
          <a:p>
            <a:r>
              <a:rPr lang="en-US" dirty="0"/>
              <a:t>With Pi-hole, we establish a powerful ad-blocking solution at the network level, ensuring that all devices connected to the network benefit from ad blocking without the need for individual configurations. Integrating Pi-hole with Unbound DNS provides secure and private DNS resolution, enhancing user privacy and security</a:t>
            </a:r>
          </a:p>
        </p:txBody>
      </p:sp>
    </p:spTree>
    <p:extLst>
      <p:ext uri="{BB962C8B-B14F-4D97-AF65-F5344CB8AC3E}">
        <p14:creationId xmlns:p14="http://schemas.microsoft.com/office/powerpoint/2010/main" val="8744376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22</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a:xfrm>
            <a:off x="443365" y="1825625"/>
            <a:ext cx="10576088" cy="4351338"/>
          </a:xfrm>
        </p:spPr>
        <p:txBody>
          <a:bodyPr/>
          <a:lstStyle/>
          <a:p>
            <a:r>
              <a:rPr lang="en-US" dirty="0"/>
              <a:t>Raspberry Pi: Utilized as the hardware platform to host the ad-blocking and network security solution.</a:t>
            </a:r>
          </a:p>
          <a:p>
            <a:r>
              <a:rPr lang="en-US" dirty="0"/>
              <a:t>Pi-hole: Implemented as the ad-blocking solution, filtering out ads at the network level for all connected devices.</a:t>
            </a:r>
          </a:p>
          <a:p>
            <a:r>
              <a:rPr lang="en-US" dirty="0"/>
              <a:t>Unbound DNS: Configured for secure and private DNS resolution, enhancing user privacy and network security.</a:t>
            </a:r>
          </a:p>
          <a:p>
            <a:r>
              <a:rPr lang="en-US" dirty="0"/>
              <a:t>Suricata rules: Implemented to enhance network security by monitoring and blocking malicious activities in real-time.</a:t>
            </a:r>
          </a:p>
        </p:txBody>
      </p:sp>
    </p:spTree>
    <p:extLst>
      <p:ext uri="{BB962C8B-B14F-4D97-AF65-F5344CB8AC3E}">
        <p14:creationId xmlns:p14="http://schemas.microsoft.com/office/powerpoint/2010/main" val="3229551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17F97-4A82-800C-981F-F51A4241F3EF}"/>
              </a:ext>
            </a:extLst>
          </p:cNvPr>
          <p:cNvSpPr>
            <a:spLocks noGrp="1"/>
          </p:cNvSpPr>
          <p:nvPr>
            <p:ph type="ctrTitle"/>
          </p:nvPr>
        </p:nvSpPr>
        <p:spPr>
          <a:xfrm>
            <a:off x="2557272" y="2807208"/>
            <a:ext cx="7077456" cy="1243584"/>
          </a:xfrm>
        </p:spPr>
        <p:txBody>
          <a:bodyPr anchor="ctr" anchorCtr="1"/>
          <a:lstStyle/>
          <a:p>
            <a:r>
              <a:rPr lang="en-US" dirty="0"/>
              <a:t>BASE PAPER</a:t>
            </a:r>
          </a:p>
        </p:txBody>
      </p:sp>
    </p:spTree>
    <p:extLst>
      <p:ext uri="{BB962C8B-B14F-4D97-AF65-F5344CB8AC3E}">
        <p14:creationId xmlns:p14="http://schemas.microsoft.com/office/powerpoint/2010/main" val="2613882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00FC243-A5AB-E630-451E-7B728DAF2544}"/>
              </a:ext>
            </a:extLst>
          </p:cNvPr>
          <p:cNvSpPr>
            <a:spLocks noGrp="1"/>
          </p:cNvSpPr>
          <p:nvPr>
            <p:ph type="sldNum" sz="quarter" idx="12"/>
          </p:nvPr>
        </p:nvSpPr>
        <p:spPr/>
        <p:txBody>
          <a:bodyPr/>
          <a:lstStyle/>
          <a:p>
            <a:fld id="{C263D6C4-4840-40CC-AC84-17E24B3B7BDE}" type="slidenum">
              <a:rPr lang="en-US" noProof="0" smtClean="0"/>
              <a:pPr/>
              <a:t>24</a:t>
            </a:fld>
            <a:endParaRPr lang="en-US" noProof="0" dirty="0"/>
          </a:p>
        </p:txBody>
      </p:sp>
      <p:sp>
        <p:nvSpPr>
          <p:cNvPr id="4" name="Content Placeholder 3">
            <a:extLst>
              <a:ext uri="{FF2B5EF4-FFF2-40B4-BE49-F238E27FC236}">
                <a16:creationId xmlns:a16="http://schemas.microsoft.com/office/drawing/2014/main" id="{CC2160A2-5DE5-09F5-9C14-9BEE1F7A854B}"/>
              </a:ext>
            </a:extLst>
          </p:cNvPr>
          <p:cNvSpPr>
            <a:spLocks noGrp="1"/>
          </p:cNvSpPr>
          <p:nvPr>
            <p:ph idx="1"/>
          </p:nvPr>
        </p:nvSpPr>
        <p:spPr>
          <a:xfrm>
            <a:off x="443365" y="1544270"/>
            <a:ext cx="11215235" cy="4663489"/>
          </a:xfrm>
        </p:spPr>
        <p:txBody>
          <a:bodyPr>
            <a:normAutofit fontScale="85000" lnSpcReduction="20000"/>
          </a:bodyPr>
          <a:lstStyle/>
          <a:p>
            <a:pPr marL="0" indent="0" algn="ctr">
              <a:buNone/>
            </a:pPr>
            <a:r>
              <a:rPr lang="en-US" b="1" dirty="0">
                <a:solidFill>
                  <a:schemeClr val="accent1">
                    <a:lumMod val="60000"/>
                    <a:lumOff val="40000"/>
                  </a:schemeClr>
                </a:solidFill>
              </a:rPr>
              <a:t> "Securing Network Using Raspberry Pi by Implementing </a:t>
            </a:r>
          </a:p>
          <a:p>
            <a:pPr marL="0" indent="0" algn="ctr">
              <a:buNone/>
            </a:pPr>
            <a:r>
              <a:rPr lang="en-US" b="1" dirty="0">
                <a:solidFill>
                  <a:schemeClr val="accent1">
                    <a:lumMod val="60000"/>
                    <a:lumOff val="40000"/>
                  </a:schemeClr>
                </a:solidFill>
              </a:rPr>
              <a:t>VPN, Pi-Hole “</a:t>
            </a:r>
          </a:p>
          <a:p>
            <a:r>
              <a:rPr lang="en-US" dirty="0"/>
              <a:t>Authors: Shuai Zhao , Chong Wang, Achir Kalra,  Leon Vaks. </a:t>
            </a:r>
          </a:p>
          <a:p>
            <a:r>
              <a:rPr lang="en-US" dirty="0"/>
              <a:t>Published in: May 2018 Americas Conference on Information Systems (Research Gate)</a:t>
            </a:r>
          </a:p>
          <a:p>
            <a:r>
              <a:rPr lang="en-US" dirty="0"/>
              <a:t>Summary: The paper examines security risks inherent in internet-connected devices, including data exposure to ISPs and third-party entities for targeted advertising. It proposes </a:t>
            </a:r>
            <a:r>
              <a:rPr lang="en-US" dirty="0" err="1"/>
              <a:t>VPiSec</a:t>
            </a:r>
            <a:r>
              <a:rPr lang="en-US" dirty="0"/>
              <a:t>, a protective device that conceals users' IP addresses via an OpenVPN server in another country and blocks DNS requests for tracking domains using Pi-Hole. OSSEC IPS is implemented to thwart internal network brute force attacks. Network performance is assessed pre- and post-</a:t>
            </a:r>
            <a:r>
              <a:rPr lang="en-US" dirty="0" err="1"/>
              <a:t>VPiSec</a:t>
            </a:r>
            <a:r>
              <a:rPr lang="en-US" dirty="0"/>
              <a:t> deployment, with no discernible difference in upload/download speeds, suggesting users can secure network activities without performance compromise.</a:t>
            </a:r>
          </a:p>
        </p:txBody>
      </p:sp>
    </p:spTree>
    <p:extLst>
      <p:ext uri="{BB962C8B-B14F-4D97-AF65-F5344CB8AC3E}">
        <p14:creationId xmlns:p14="http://schemas.microsoft.com/office/powerpoint/2010/main" val="682225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4BD5-6217-A89C-04D4-3DBB56540FB9}"/>
              </a:ext>
            </a:extLst>
          </p:cNvPr>
          <p:cNvSpPr>
            <a:spLocks noGrp="1"/>
          </p:cNvSpPr>
          <p:nvPr>
            <p:ph type="ctrTitle"/>
          </p:nvPr>
        </p:nvSpPr>
        <p:spPr>
          <a:xfrm>
            <a:off x="4150381" y="2807208"/>
            <a:ext cx="3891238" cy="1243584"/>
          </a:xfrm>
        </p:spPr>
        <p:txBody>
          <a:bodyPr anchor="ctr"/>
          <a:lstStyle/>
          <a:p>
            <a:r>
              <a:rPr lang="en-US" dirty="0"/>
              <a:t>MODULES</a:t>
            </a:r>
          </a:p>
        </p:txBody>
      </p:sp>
    </p:spTree>
    <p:extLst>
      <p:ext uri="{BB962C8B-B14F-4D97-AF65-F5344CB8AC3E}">
        <p14:creationId xmlns:p14="http://schemas.microsoft.com/office/powerpoint/2010/main" val="3534875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42B13A2-CE1C-92C8-8F0C-E5E9FAA10DFE}"/>
              </a:ext>
            </a:extLst>
          </p:cNvPr>
          <p:cNvSpPr>
            <a:spLocks noGrp="1"/>
          </p:cNvSpPr>
          <p:nvPr>
            <p:ph type="sldNum" sz="quarter" idx="12"/>
          </p:nvPr>
        </p:nvSpPr>
        <p:spPr/>
        <p:txBody>
          <a:bodyPr/>
          <a:lstStyle/>
          <a:p>
            <a:fld id="{C263D6C4-4840-40CC-AC84-17E24B3B7BDE}" type="slidenum">
              <a:rPr lang="en-US" noProof="0" smtClean="0"/>
              <a:pPr/>
              <a:t>26</a:t>
            </a:fld>
            <a:endParaRPr lang="en-US" noProof="0" dirty="0"/>
          </a:p>
        </p:txBody>
      </p:sp>
      <p:sp>
        <p:nvSpPr>
          <p:cNvPr id="4" name="Content Placeholder 3">
            <a:extLst>
              <a:ext uri="{FF2B5EF4-FFF2-40B4-BE49-F238E27FC236}">
                <a16:creationId xmlns:a16="http://schemas.microsoft.com/office/drawing/2014/main" id="{F718C1A0-1E36-4491-D883-67CB4F7781D7}"/>
              </a:ext>
            </a:extLst>
          </p:cNvPr>
          <p:cNvSpPr>
            <a:spLocks noGrp="1"/>
          </p:cNvSpPr>
          <p:nvPr>
            <p:ph sz="half" idx="1"/>
          </p:nvPr>
        </p:nvSpPr>
        <p:spPr>
          <a:xfrm>
            <a:off x="443365" y="1517715"/>
            <a:ext cx="5425590" cy="4659248"/>
          </a:xfrm>
        </p:spPr>
        <p:txBody>
          <a:bodyPr/>
          <a:lstStyle/>
          <a:p>
            <a:pPr>
              <a:buFont typeface="Wingdings" panose="05000000000000000000" pitchFamily="2" charset="2"/>
              <a:buChar char="q"/>
            </a:pPr>
            <a:r>
              <a:rPr lang="en-US" dirty="0"/>
              <a:t>Raspberry Pi Module:</a:t>
            </a:r>
          </a:p>
          <a:p>
            <a:pPr marL="685800" lvl="1"/>
            <a:r>
              <a:rPr lang="en-US" sz="2000" dirty="0"/>
              <a:t>Installation of Raspbian OS</a:t>
            </a:r>
          </a:p>
          <a:p>
            <a:pPr marL="685800" lvl="1"/>
            <a:r>
              <a:rPr lang="en-US" sz="2000" dirty="0"/>
              <a:t>Installation of necessary software (Git, Python, etc.)</a:t>
            </a:r>
          </a:p>
          <a:p>
            <a:pPr marL="685800" lvl="1"/>
            <a:r>
              <a:rPr lang="en-US" sz="2000" dirty="0"/>
              <a:t>Configuration of Raspberry Pi</a:t>
            </a:r>
          </a:p>
          <a:p>
            <a:endParaRPr lang="en-US" dirty="0"/>
          </a:p>
          <a:p>
            <a:pPr>
              <a:buFont typeface="Wingdings" panose="05000000000000000000" pitchFamily="2" charset="2"/>
              <a:buChar char="q"/>
            </a:pPr>
            <a:r>
              <a:rPr lang="en-US" dirty="0"/>
              <a:t>Pi-hole Module:</a:t>
            </a:r>
          </a:p>
          <a:p>
            <a:pPr lvl="1"/>
            <a:r>
              <a:rPr lang="en-US" sz="2000" dirty="0"/>
              <a:t>Installation and configuration of Pi-hole</a:t>
            </a:r>
          </a:p>
          <a:p>
            <a:pPr lvl="1"/>
            <a:r>
              <a:rPr lang="en-US" sz="2000" dirty="0"/>
              <a:t>Configuration of blacklists and whitelists</a:t>
            </a:r>
          </a:p>
          <a:p>
            <a:pPr lvl="1"/>
            <a:r>
              <a:rPr lang="en-US" sz="2000" dirty="0"/>
              <a:t>Integration with Unbound DNS</a:t>
            </a:r>
          </a:p>
          <a:p>
            <a:endParaRPr lang="en-US" dirty="0"/>
          </a:p>
        </p:txBody>
      </p:sp>
      <p:sp>
        <p:nvSpPr>
          <p:cNvPr id="5" name="Content Placeholder 4">
            <a:extLst>
              <a:ext uri="{FF2B5EF4-FFF2-40B4-BE49-F238E27FC236}">
                <a16:creationId xmlns:a16="http://schemas.microsoft.com/office/drawing/2014/main" id="{FF2FFD11-B2FD-41F9-8230-1F5BB8949D68}"/>
              </a:ext>
            </a:extLst>
          </p:cNvPr>
          <p:cNvSpPr>
            <a:spLocks noGrp="1"/>
          </p:cNvSpPr>
          <p:nvPr>
            <p:ph sz="half" idx="2"/>
          </p:nvPr>
        </p:nvSpPr>
        <p:spPr>
          <a:xfrm>
            <a:off x="5784980" y="1517715"/>
            <a:ext cx="6260840" cy="4659248"/>
          </a:xfrm>
        </p:spPr>
        <p:txBody>
          <a:bodyPr>
            <a:normAutofit/>
          </a:bodyPr>
          <a:lstStyle/>
          <a:p>
            <a:pPr>
              <a:buFont typeface="Wingdings" panose="05000000000000000000" pitchFamily="2" charset="2"/>
              <a:buChar char="q"/>
            </a:pPr>
            <a:r>
              <a:rPr lang="en-US" dirty="0"/>
              <a:t>Unbound DNS Module:</a:t>
            </a:r>
          </a:p>
          <a:p>
            <a:pPr lvl="1"/>
            <a:r>
              <a:rPr lang="en-US" sz="2000" dirty="0"/>
              <a:t>Installation and configuration of Unbound DNS</a:t>
            </a:r>
          </a:p>
          <a:p>
            <a:pPr lvl="1"/>
            <a:r>
              <a:rPr lang="en-US" sz="2000" dirty="0"/>
              <a:t>Configuration for secure and private DNS resolution</a:t>
            </a:r>
          </a:p>
          <a:p>
            <a:pPr>
              <a:buFont typeface="Wingdings" panose="05000000000000000000" pitchFamily="2" charset="2"/>
              <a:buChar char="q"/>
            </a:pPr>
            <a:r>
              <a:rPr lang="en-US" dirty="0"/>
              <a:t>Python Script Module:</a:t>
            </a:r>
          </a:p>
          <a:p>
            <a:pPr lvl="1"/>
            <a:r>
              <a:rPr lang="en-US" sz="2000" dirty="0"/>
              <a:t>Development of Python script to generate latest ad lists .</a:t>
            </a:r>
          </a:p>
          <a:p>
            <a:pPr lvl="1"/>
            <a:r>
              <a:rPr lang="en-US" sz="2000" dirty="0"/>
              <a:t>Explanation of the script's functionality</a:t>
            </a:r>
          </a:p>
          <a:p>
            <a:pPr>
              <a:buFont typeface="Wingdings" panose="05000000000000000000" pitchFamily="2" charset="2"/>
              <a:buChar char="q"/>
            </a:pPr>
            <a:r>
              <a:rPr lang="en-US" sz="2200" dirty="0"/>
              <a:t>Suricata Module:</a:t>
            </a:r>
          </a:p>
          <a:p>
            <a:pPr lvl="1"/>
            <a:r>
              <a:rPr lang="en-US" sz="2000" dirty="0"/>
              <a:t>Installation and configuration of Suricata</a:t>
            </a:r>
          </a:p>
          <a:p>
            <a:pPr lvl="1"/>
            <a:r>
              <a:rPr lang="en-US" sz="2000" dirty="0"/>
              <a:t>Configuration of Suricata rules for IDS/IPS</a:t>
            </a:r>
          </a:p>
          <a:p>
            <a:endParaRPr lang="en-US" dirty="0"/>
          </a:p>
        </p:txBody>
      </p:sp>
    </p:spTree>
    <p:extLst>
      <p:ext uri="{BB962C8B-B14F-4D97-AF65-F5344CB8AC3E}">
        <p14:creationId xmlns:p14="http://schemas.microsoft.com/office/powerpoint/2010/main" val="1357819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4BD5-6217-A89C-04D4-3DBB56540FB9}"/>
              </a:ext>
            </a:extLst>
          </p:cNvPr>
          <p:cNvSpPr>
            <a:spLocks noGrp="1"/>
          </p:cNvSpPr>
          <p:nvPr>
            <p:ph type="ctrTitle"/>
          </p:nvPr>
        </p:nvSpPr>
        <p:spPr>
          <a:xfrm>
            <a:off x="2871402" y="2611918"/>
            <a:ext cx="6449195" cy="1634163"/>
          </a:xfrm>
        </p:spPr>
        <p:txBody>
          <a:bodyPr anchor="ctr"/>
          <a:lstStyle/>
          <a:p>
            <a:pPr algn="ctr"/>
            <a:r>
              <a:rPr lang="en-US" dirty="0"/>
              <a:t>SYSTEM ARCHITECTURE</a:t>
            </a:r>
          </a:p>
        </p:txBody>
      </p:sp>
    </p:spTree>
    <p:extLst>
      <p:ext uri="{BB962C8B-B14F-4D97-AF65-F5344CB8AC3E}">
        <p14:creationId xmlns:p14="http://schemas.microsoft.com/office/powerpoint/2010/main" val="2363482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A38799-9071-87E0-1C13-613B01A9A2B9}"/>
              </a:ext>
            </a:extLst>
          </p:cNvPr>
          <p:cNvSpPr>
            <a:spLocks noGrp="1"/>
          </p:cNvSpPr>
          <p:nvPr>
            <p:ph type="sldNum" sz="quarter" idx="12"/>
          </p:nvPr>
        </p:nvSpPr>
        <p:spPr/>
        <p:txBody>
          <a:bodyPr/>
          <a:lstStyle/>
          <a:p>
            <a:fld id="{C263D6C4-4840-40CC-AC84-17E24B3B7BDE}" type="slidenum">
              <a:rPr lang="en-US" noProof="0" smtClean="0"/>
              <a:pPr/>
              <a:t>28</a:t>
            </a:fld>
            <a:endParaRPr lang="en-US" noProof="0" dirty="0"/>
          </a:p>
        </p:txBody>
      </p:sp>
      <p:pic>
        <p:nvPicPr>
          <p:cNvPr id="4" name="Picture 3">
            <a:extLst>
              <a:ext uri="{FF2B5EF4-FFF2-40B4-BE49-F238E27FC236}">
                <a16:creationId xmlns:a16="http://schemas.microsoft.com/office/drawing/2014/main" id="{F344C212-BCFE-B486-2FEF-9E3EC28F3A26}"/>
              </a:ext>
            </a:extLst>
          </p:cNvPr>
          <p:cNvPicPr>
            <a:picLocks noChangeAspect="1"/>
          </p:cNvPicPr>
          <p:nvPr/>
        </p:nvPicPr>
        <p:blipFill>
          <a:blip r:embed="rId2"/>
          <a:stretch>
            <a:fillRect/>
          </a:stretch>
        </p:blipFill>
        <p:spPr>
          <a:xfrm>
            <a:off x="1508587" y="477443"/>
            <a:ext cx="9174825" cy="5903114"/>
          </a:xfrm>
          <a:prstGeom prst="rect">
            <a:avLst/>
          </a:prstGeom>
        </p:spPr>
      </p:pic>
    </p:spTree>
    <p:extLst>
      <p:ext uri="{BB962C8B-B14F-4D97-AF65-F5344CB8AC3E}">
        <p14:creationId xmlns:p14="http://schemas.microsoft.com/office/powerpoint/2010/main" val="42411499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4BD5-6217-A89C-04D4-3DBB56540FB9}"/>
              </a:ext>
            </a:extLst>
          </p:cNvPr>
          <p:cNvSpPr>
            <a:spLocks noGrp="1"/>
          </p:cNvSpPr>
          <p:nvPr>
            <p:ph type="ctrTitle"/>
          </p:nvPr>
        </p:nvSpPr>
        <p:spPr>
          <a:xfrm>
            <a:off x="2871402" y="2611918"/>
            <a:ext cx="6449195" cy="1634163"/>
          </a:xfrm>
        </p:spPr>
        <p:txBody>
          <a:bodyPr anchor="ctr"/>
          <a:lstStyle/>
          <a:p>
            <a:pPr algn="ctr"/>
            <a:r>
              <a:rPr lang="en-US" dirty="0"/>
              <a:t>MODULE DIAGRAM</a:t>
            </a:r>
          </a:p>
        </p:txBody>
      </p:sp>
    </p:spTree>
    <p:extLst>
      <p:ext uri="{BB962C8B-B14F-4D97-AF65-F5344CB8AC3E}">
        <p14:creationId xmlns:p14="http://schemas.microsoft.com/office/powerpoint/2010/main" val="33479480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A09D85-746D-9A1E-69AE-11BB1E53CA40}"/>
              </a:ext>
            </a:extLst>
          </p:cNvPr>
          <p:cNvSpPr>
            <a:spLocks noGrp="1"/>
          </p:cNvSpPr>
          <p:nvPr>
            <p:ph type="sldNum" sz="quarter" idx="12"/>
          </p:nvPr>
        </p:nvSpPr>
        <p:spPr/>
        <p:txBody>
          <a:bodyPr/>
          <a:lstStyle/>
          <a:p>
            <a:fld id="{C263D6C4-4840-40CC-AC84-17E24B3B7BDE}" type="slidenum">
              <a:rPr lang="en-US" noProof="0" smtClean="0"/>
              <a:pPr/>
              <a:t>30</a:t>
            </a:fld>
            <a:endParaRPr lang="en-US" noProof="0" dirty="0"/>
          </a:p>
        </p:txBody>
      </p:sp>
      <p:pic>
        <p:nvPicPr>
          <p:cNvPr id="4" name="Picture 3">
            <a:extLst>
              <a:ext uri="{FF2B5EF4-FFF2-40B4-BE49-F238E27FC236}">
                <a16:creationId xmlns:a16="http://schemas.microsoft.com/office/drawing/2014/main" id="{35A451F7-9C80-9A84-028F-619DB2C1C3E1}"/>
              </a:ext>
            </a:extLst>
          </p:cNvPr>
          <p:cNvPicPr>
            <a:picLocks noChangeAspect="1"/>
          </p:cNvPicPr>
          <p:nvPr/>
        </p:nvPicPr>
        <p:blipFill>
          <a:blip r:embed="rId2"/>
          <a:stretch>
            <a:fillRect/>
          </a:stretch>
        </p:blipFill>
        <p:spPr>
          <a:xfrm>
            <a:off x="3084798" y="570356"/>
            <a:ext cx="6022404" cy="5717288"/>
          </a:xfrm>
          <a:prstGeom prst="rect">
            <a:avLst/>
          </a:prstGeom>
        </p:spPr>
      </p:pic>
    </p:spTree>
    <p:extLst>
      <p:ext uri="{BB962C8B-B14F-4D97-AF65-F5344CB8AC3E}">
        <p14:creationId xmlns:p14="http://schemas.microsoft.com/office/powerpoint/2010/main" val="4111410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4BD5-6217-A89C-04D4-3DBB56540FB9}"/>
              </a:ext>
            </a:extLst>
          </p:cNvPr>
          <p:cNvSpPr>
            <a:spLocks noGrp="1"/>
          </p:cNvSpPr>
          <p:nvPr>
            <p:ph type="ctrTitle"/>
          </p:nvPr>
        </p:nvSpPr>
        <p:spPr>
          <a:xfrm>
            <a:off x="2871402" y="2611918"/>
            <a:ext cx="6449195" cy="1634163"/>
          </a:xfrm>
        </p:spPr>
        <p:txBody>
          <a:bodyPr anchor="ctr"/>
          <a:lstStyle/>
          <a:p>
            <a:pPr algn="ctr"/>
            <a:r>
              <a:rPr lang="en-US" dirty="0"/>
              <a:t>RESULT</a:t>
            </a:r>
          </a:p>
        </p:txBody>
      </p:sp>
    </p:spTree>
    <p:extLst>
      <p:ext uri="{BB962C8B-B14F-4D97-AF65-F5344CB8AC3E}">
        <p14:creationId xmlns:p14="http://schemas.microsoft.com/office/powerpoint/2010/main" val="1796822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924F772-2C66-45EB-1417-1870D58A26F1}"/>
              </a:ext>
            </a:extLst>
          </p:cNvPr>
          <p:cNvSpPr>
            <a:spLocks noGrp="1"/>
          </p:cNvSpPr>
          <p:nvPr>
            <p:ph type="sldNum" sz="quarter" idx="12"/>
          </p:nvPr>
        </p:nvSpPr>
        <p:spPr/>
        <p:txBody>
          <a:bodyPr/>
          <a:lstStyle/>
          <a:p>
            <a:fld id="{C263D6C4-4840-40CC-AC84-17E24B3B7BDE}" type="slidenum">
              <a:rPr lang="en-US" noProof="0" smtClean="0"/>
              <a:pPr/>
              <a:t>32</a:t>
            </a:fld>
            <a:endParaRPr lang="en-US" noProof="0" dirty="0"/>
          </a:p>
        </p:txBody>
      </p:sp>
      <p:sp>
        <p:nvSpPr>
          <p:cNvPr id="4" name="Content Placeholder 3">
            <a:extLst>
              <a:ext uri="{FF2B5EF4-FFF2-40B4-BE49-F238E27FC236}">
                <a16:creationId xmlns:a16="http://schemas.microsoft.com/office/drawing/2014/main" id="{12033253-D720-941B-7040-D40F09D84CBB}"/>
              </a:ext>
            </a:extLst>
          </p:cNvPr>
          <p:cNvSpPr>
            <a:spLocks noGrp="1"/>
          </p:cNvSpPr>
          <p:nvPr>
            <p:ph idx="1"/>
          </p:nvPr>
        </p:nvSpPr>
        <p:spPr/>
        <p:txBody>
          <a:bodyPr/>
          <a:lstStyle/>
          <a:p>
            <a:r>
              <a:rPr lang="en-US" dirty="0">
                <a:solidFill>
                  <a:srgbClr val="00B0F0"/>
                </a:solidFill>
              </a:rPr>
              <a:t>Effective Ad Blocking and Enhanced Network Security:</a:t>
            </a:r>
          </a:p>
          <a:p>
            <a:pPr marL="457200" lvl="1" indent="0">
              <a:buNone/>
            </a:pPr>
            <a:r>
              <a:rPr lang="en-US" sz="2800" dirty="0"/>
              <a:t>Ads are effectively blocked at the network level, providing an ad-free browsing experience, while network security is enhanced through real-time monitoring and blocking of malicious activities.</a:t>
            </a:r>
          </a:p>
          <a:p>
            <a:r>
              <a:rPr lang="en-US" dirty="0">
                <a:solidFill>
                  <a:srgbClr val="00B0F0"/>
                </a:solidFill>
              </a:rPr>
              <a:t>Improved Privacy and Automated Updates:</a:t>
            </a:r>
          </a:p>
          <a:p>
            <a:pPr marL="457200" lvl="1" indent="0">
              <a:buNone/>
            </a:pPr>
            <a:r>
              <a:rPr lang="en-US" sz="2800" dirty="0"/>
              <a:t>Privacy is improved through secure and private DNS resolution, and the system remains up-to-date with the latest security measures through automated updates of ad lists and Suricata rules.</a:t>
            </a:r>
          </a:p>
        </p:txBody>
      </p:sp>
    </p:spTree>
    <p:extLst>
      <p:ext uri="{BB962C8B-B14F-4D97-AF65-F5344CB8AC3E}">
        <p14:creationId xmlns:p14="http://schemas.microsoft.com/office/powerpoint/2010/main" val="7323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DA8388-3C0E-847C-B018-CB4271C22A21}"/>
              </a:ext>
            </a:extLst>
          </p:cNvPr>
          <p:cNvSpPr>
            <a:spLocks noGrp="1"/>
          </p:cNvSpPr>
          <p:nvPr>
            <p:ph type="sldNum" sz="quarter" idx="12"/>
          </p:nvPr>
        </p:nvSpPr>
        <p:spPr/>
        <p:txBody>
          <a:bodyPr/>
          <a:lstStyle/>
          <a:p>
            <a:fld id="{C263D6C4-4840-40CC-AC84-17E24B3B7BDE}" type="slidenum">
              <a:rPr lang="en-US" noProof="0" smtClean="0"/>
              <a:pPr/>
              <a:t>33</a:t>
            </a:fld>
            <a:endParaRPr lang="en-US" noProof="0" dirty="0"/>
          </a:p>
        </p:txBody>
      </p:sp>
      <p:sp>
        <p:nvSpPr>
          <p:cNvPr id="4" name="Content Placeholder 3">
            <a:extLst>
              <a:ext uri="{FF2B5EF4-FFF2-40B4-BE49-F238E27FC236}">
                <a16:creationId xmlns:a16="http://schemas.microsoft.com/office/drawing/2014/main" id="{7DD6C80B-A50E-4384-B4DB-8F355D1B3F25}"/>
              </a:ext>
            </a:extLst>
          </p:cNvPr>
          <p:cNvSpPr>
            <a:spLocks noGrp="1"/>
          </p:cNvSpPr>
          <p:nvPr>
            <p:ph idx="1"/>
          </p:nvPr>
        </p:nvSpPr>
        <p:spPr/>
        <p:txBody>
          <a:bodyPr/>
          <a:lstStyle/>
          <a:p>
            <a:r>
              <a:rPr lang="en-US" dirty="0">
                <a:solidFill>
                  <a:srgbClr val="00B0F0"/>
                </a:solidFill>
              </a:rPr>
              <a:t>Customizability and Network Traffic Analysis:</a:t>
            </a:r>
          </a:p>
          <a:p>
            <a:pPr marL="457200" lvl="1" indent="0">
              <a:buNone/>
            </a:pPr>
            <a:r>
              <a:rPr lang="en-US" sz="2800" dirty="0"/>
              <a:t>Users have the option to customize blocklists, whitelists, and other configuration settings, and detailed reports and analytics on network traffic allow for thorough analysis and detection of potential security threats.</a:t>
            </a:r>
          </a:p>
          <a:p>
            <a:r>
              <a:rPr lang="en-US" dirty="0">
                <a:solidFill>
                  <a:srgbClr val="00B0F0"/>
                </a:solidFill>
              </a:rPr>
              <a:t>Real-time Threat Detection and Scalability:</a:t>
            </a:r>
          </a:p>
          <a:p>
            <a:pPr marL="457200" lvl="1" indent="0">
              <a:buNone/>
            </a:pPr>
            <a:r>
              <a:rPr lang="en-US" sz="2800" dirty="0"/>
              <a:t>Suricata IDS/IPS provides real-time monitoring and detection of malicious activities, helping to prevent security breaches, and the system is scalable and flexible, allowing for easy integration with additional security tools and services.</a:t>
            </a:r>
          </a:p>
        </p:txBody>
      </p:sp>
    </p:spTree>
    <p:extLst>
      <p:ext uri="{BB962C8B-B14F-4D97-AF65-F5344CB8AC3E}">
        <p14:creationId xmlns:p14="http://schemas.microsoft.com/office/powerpoint/2010/main" val="1965914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E4C68-3C89-C596-D854-8BB9B35D54F5}"/>
              </a:ext>
            </a:extLst>
          </p:cNvPr>
          <p:cNvSpPr>
            <a:spLocks noGrp="1"/>
          </p:cNvSpPr>
          <p:nvPr>
            <p:ph type="ctrTitle"/>
          </p:nvPr>
        </p:nvSpPr>
        <p:spPr>
          <a:xfrm>
            <a:off x="2246936" y="2369866"/>
            <a:ext cx="7698128" cy="2118267"/>
          </a:xfrm>
        </p:spPr>
        <p:txBody>
          <a:bodyPr anchor="ctr" anchorCtr="1"/>
          <a:lstStyle/>
          <a:p>
            <a:r>
              <a:rPr lang="en-US" dirty="0"/>
              <a:t>IMPLEMENTAION</a:t>
            </a:r>
          </a:p>
        </p:txBody>
      </p:sp>
    </p:spTree>
    <p:extLst>
      <p:ext uri="{BB962C8B-B14F-4D97-AF65-F5344CB8AC3E}">
        <p14:creationId xmlns:p14="http://schemas.microsoft.com/office/powerpoint/2010/main" val="18592451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6739F-64F5-BE3F-0414-7A855B0132C4}"/>
              </a:ext>
            </a:extLst>
          </p:cNvPr>
          <p:cNvSpPr>
            <a:spLocks noGrp="1"/>
          </p:cNvSpPr>
          <p:nvPr>
            <p:ph type="title"/>
          </p:nvPr>
        </p:nvSpPr>
        <p:spPr>
          <a:xfrm>
            <a:off x="444500" y="681037"/>
            <a:ext cx="11214100" cy="535531"/>
          </a:xfrm>
        </p:spPr>
        <p:txBody>
          <a:bodyPr/>
          <a:lstStyle/>
          <a:p>
            <a:r>
              <a:rPr lang="en-US" dirty="0"/>
              <a:t>Prerequisites</a:t>
            </a:r>
          </a:p>
        </p:txBody>
      </p:sp>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35</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p:txBody>
          <a:bodyPr>
            <a:normAutofit/>
          </a:bodyPr>
          <a:lstStyle/>
          <a:p>
            <a:r>
              <a:rPr lang="en-US" dirty="0"/>
              <a:t>Hardware Requirements: Raspberry Pi (any model), microSD card (8GB or larger), power adapter, Ethernet cable, and a compatible router.</a:t>
            </a:r>
          </a:p>
          <a:p>
            <a:r>
              <a:rPr lang="en-US" dirty="0"/>
              <a:t>Software Requirements: Raspbian OS, Pi-hole, Unbound DNS, Suricata, Python 3.x, Git, and a text editor (e.g., nano or Vim).</a:t>
            </a:r>
          </a:p>
          <a:p>
            <a:r>
              <a:rPr lang="en-US" dirty="0"/>
              <a:t>Network Requirements: Access to the local network, administrative access to the router for DNS configuration, and internet access for downloading software and updates.</a:t>
            </a:r>
          </a:p>
        </p:txBody>
      </p:sp>
    </p:spTree>
    <p:extLst>
      <p:ext uri="{BB962C8B-B14F-4D97-AF65-F5344CB8AC3E}">
        <p14:creationId xmlns:p14="http://schemas.microsoft.com/office/powerpoint/2010/main" val="27143416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6739F-64F5-BE3F-0414-7A855B0132C4}"/>
              </a:ext>
            </a:extLst>
          </p:cNvPr>
          <p:cNvSpPr>
            <a:spLocks noGrp="1"/>
          </p:cNvSpPr>
          <p:nvPr>
            <p:ph type="title"/>
          </p:nvPr>
        </p:nvSpPr>
        <p:spPr>
          <a:xfrm>
            <a:off x="443365" y="681037"/>
            <a:ext cx="11214100" cy="535531"/>
          </a:xfrm>
        </p:spPr>
        <p:txBody>
          <a:bodyPr/>
          <a:lstStyle/>
          <a:p>
            <a:r>
              <a:rPr lang="en-US" dirty="0"/>
              <a:t>Raspberry Pi </a:t>
            </a:r>
            <a:r>
              <a:rPr lang="en-US" dirty="0" err="1"/>
              <a:t>Installtion</a:t>
            </a:r>
            <a:endParaRPr lang="en-US" dirty="0"/>
          </a:p>
        </p:txBody>
      </p:sp>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36</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p:txBody>
          <a:bodyPr>
            <a:normAutofit fontScale="92500" lnSpcReduction="10000"/>
          </a:bodyPr>
          <a:lstStyle/>
          <a:p>
            <a:r>
              <a:rPr lang="en-US" dirty="0"/>
              <a:t>Download Raspberry Pi Imager:</a:t>
            </a:r>
          </a:p>
          <a:p>
            <a:r>
              <a:rPr lang="en-US" dirty="0"/>
              <a:t>Go to the official Raspberry Pi Downloads page and download Raspberry Pi Imager for your operating system .</a:t>
            </a:r>
          </a:p>
          <a:p>
            <a:r>
              <a:rPr lang="en-US" dirty="0"/>
              <a:t>Write the Image to Your SD Card.</a:t>
            </a:r>
          </a:p>
          <a:p>
            <a:r>
              <a:rPr lang="en-US" dirty="0"/>
              <a:t>Select your microSD card and click on the WRITE button.</a:t>
            </a:r>
          </a:p>
          <a:p>
            <a:r>
              <a:rPr lang="en-US" dirty="0"/>
              <a:t>Click WRITE to start the process. It takes a few minutes to format the microSD card and write the files, followed by a verification step.</a:t>
            </a:r>
          </a:p>
          <a:p>
            <a:r>
              <a:rPr lang="en-US" dirty="0"/>
              <a:t>Remove the microSD card from your computer when prompted.</a:t>
            </a:r>
          </a:p>
          <a:p>
            <a:r>
              <a:rPr lang="en-US" dirty="0"/>
              <a:t>Insert the microSD card into your Raspberry Pi.</a:t>
            </a:r>
          </a:p>
          <a:p>
            <a:r>
              <a:rPr lang="en-US" dirty="0"/>
              <a:t>Power on your Raspberry Pi to start the fresh install of Raspbian.</a:t>
            </a:r>
          </a:p>
        </p:txBody>
      </p:sp>
    </p:spTree>
    <p:extLst>
      <p:ext uri="{BB962C8B-B14F-4D97-AF65-F5344CB8AC3E}">
        <p14:creationId xmlns:p14="http://schemas.microsoft.com/office/powerpoint/2010/main" val="26179310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6739F-64F5-BE3F-0414-7A855B0132C4}"/>
              </a:ext>
            </a:extLst>
          </p:cNvPr>
          <p:cNvSpPr>
            <a:spLocks noGrp="1"/>
          </p:cNvSpPr>
          <p:nvPr>
            <p:ph type="title"/>
          </p:nvPr>
        </p:nvSpPr>
        <p:spPr>
          <a:xfrm>
            <a:off x="444500" y="681037"/>
            <a:ext cx="11214100" cy="535531"/>
          </a:xfrm>
        </p:spPr>
        <p:txBody>
          <a:bodyPr/>
          <a:lstStyle/>
          <a:p>
            <a:r>
              <a:rPr lang="en-US" dirty="0"/>
              <a:t>Setup</a:t>
            </a:r>
          </a:p>
        </p:txBody>
      </p:sp>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37</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p:txBody>
          <a:bodyPr>
            <a:normAutofit/>
          </a:bodyPr>
          <a:lstStyle/>
          <a:p>
            <a:r>
              <a:rPr lang="en-US" sz="2400" dirty="0"/>
              <a:t>To login to your freshly baked Raspberry Pi, use the default username/password pair of pi and raspberry.</a:t>
            </a:r>
          </a:p>
          <a:p>
            <a:r>
              <a:rPr lang="en-US" sz="2400" dirty="0"/>
              <a:t>Enable SSH VNC and set static IP address for your PI </a:t>
            </a:r>
            <a:r>
              <a:rPr lang="en-US" sz="2000" dirty="0"/>
              <a:t>(</a:t>
            </a:r>
            <a:r>
              <a:rPr lang="en-US" sz="2000" dirty="0" err="1"/>
              <a:t>cmd</a:t>
            </a:r>
            <a:r>
              <a:rPr lang="en-US" sz="2000" dirty="0"/>
              <a:t>– “</a:t>
            </a:r>
            <a:r>
              <a:rPr lang="en-US" sz="2000" dirty="0" err="1"/>
              <a:t>raspi</a:t>
            </a:r>
            <a:r>
              <a:rPr lang="en-US" sz="2000" dirty="0"/>
              <a:t> config”</a:t>
            </a:r>
            <a:r>
              <a:rPr lang="en-US" sz="2400" dirty="0"/>
              <a:t>)</a:t>
            </a:r>
          </a:p>
        </p:txBody>
      </p:sp>
      <p:pic>
        <p:nvPicPr>
          <p:cNvPr id="7" name="Picture 6">
            <a:extLst>
              <a:ext uri="{FF2B5EF4-FFF2-40B4-BE49-F238E27FC236}">
                <a16:creationId xmlns:a16="http://schemas.microsoft.com/office/drawing/2014/main" id="{9C5C23D4-1B16-BA3B-0608-8E53093778AF}"/>
              </a:ext>
            </a:extLst>
          </p:cNvPr>
          <p:cNvPicPr>
            <a:picLocks noChangeAspect="1"/>
          </p:cNvPicPr>
          <p:nvPr/>
        </p:nvPicPr>
        <p:blipFill>
          <a:blip r:embed="rId2"/>
          <a:stretch>
            <a:fillRect/>
          </a:stretch>
        </p:blipFill>
        <p:spPr>
          <a:xfrm>
            <a:off x="1543914" y="3311686"/>
            <a:ext cx="8507012" cy="2791215"/>
          </a:xfrm>
          <a:prstGeom prst="rect">
            <a:avLst/>
          </a:prstGeom>
        </p:spPr>
      </p:pic>
    </p:spTree>
    <p:extLst>
      <p:ext uri="{BB962C8B-B14F-4D97-AF65-F5344CB8AC3E}">
        <p14:creationId xmlns:p14="http://schemas.microsoft.com/office/powerpoint/2010/main" val="35423499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38</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p:txBody>
          <a:bodyPr/>
          <a:lstStyle/>
          <a:p>
            <a:r>
              <a:rPr lang="en-US" dirty="0"/>
              <a:t>RUN : ‘</a:t>
            </a:r>
            <a:r>
              <a:rPr lang="en-US" dirty="0" err="1"/>
              <a:t>ifconfig</a:t>
            </a:r>
            <a:r>
              <a:rPr lang="en-US" dirty="0"/>
              <a:t>’ to know your IP address and update it as static in your network router</a:t>
            </a:r>
          </a:p>
          <a:p>
            <a:r>
              <a:rPr lang="en-US" dirty="0"/>
              <a:t>Update Raspbian and Packages: Run the commands :</a:t>
            </a:r>
          </a:p>
          <a:p>
            <a:pPr lvl="1">
              <a:buFont typeface="Wingdings" panose="05000000000000000000" pitchFamily="2" charset="2"/>
              <a:buChar char="Ø"/>
            </a:pPr>
            <a:r>
              <a:rPr lang="en-US" i="1" dirty="0">
                <a:solidFill>
                  <a:schemeClr val="bg1"/>
                </a:solidFill>
              </a:rPr>
              <a:t>sudo apt update </a:t>
            </a:r>
          </a:p>
          <a:p>
            <a:pPr lvl="1">
              <a:buFont typeface="Wingdings" panose="05000000000000000000" pitchFamily="2" charset="2"/>
              <a:buChar char="Ø"/>
            </a:pPr>
            <a:r>
              <a:rPr lang="en-US" i="1" dirty="0">
                <a:solidFill>
                  <a:schemeClr val="bg1"/>
                </a:solidFill>
              </a:rPr>
              <a:t>sudo apt-get upgrade -y</a:t>
            </a:r>
          </a:p>
          <a:p>
            <a:pPr lvl="6"/>
            <a:endParaRPr lang="en-US" dirty="0">
              <a:solidFill>
                <a:schemeClr val="bg1"/>
              </a:solidFill>
              <a:highlight>
                <a:srgbClr val="C0C0C0"/>
              </a:highlight>
            </a:endParaRPr>
          </a:p>
          <a:p>
            <a:r>
              <a:rPr lang="en-US" dirty="0"/>
              <a:t>Install :</a:t>
            </a:r>
          </a:p>
          <a:p>
            <a:pPr lvl="1">
              <a:buFont typeface="Wingdings" panose="05000000000000000000" pitchFamily="2" charset="2"/>
              <a:buChar char="Ø"/>
            </a:pPr>
            <a:r>
              <a:rPr lang="en-US" dirty="0"/>
              <a:t>Python : </a:t>
            </a:r>
            <a:r>
              <a:rPr lang="en-US" i="1" dirty="0"/>
              <a:t>sudo apt install python3</a:t>
            </a:r>
          </a:p>
          <a:p>
            <a:pPr lvl="1">
              <a:buFont typeface="Wingdings" panose="05000000000000000000" pitchFamily="2" charset="2"/>
              <a:buChar char="Ø"/>
            </a:pPr>
            <a:r>
              <a:rPr lang="en-US" dirty="0"/>
              <a:t>Unboud : </a:t>
            </a:r>
            <a:r>
              <a:rPr lang="en-US" i="1" dirty="0"/>
              <a:t>sudo apt install unbound</a:t>
            </a:r>
          </a:p>
          <a:p>
            <a:pPr marL="0" indent="0">
              <a:buNone/>
            </a:pPr>
            <a:endParaRPr lang="en-US" i="1" dirty="0"/>
          </a:p>
          <a:p>
            <a:pPr marL="0" indent="0">
              <a:buNone/>
            </a:pPr>
            <a:endParaRPr lang="en-US" dirty="0">
              <a:solidFill>
                <a:schemeClr val="tx1"/>
              </a:solidFill>
              <a:highlight>
                <a:srgbClr val="C0C0C0"/>
              </a:highlight>
            </a:endParaRPr>
          </a:p>
        </p:txBody>
      </p:sp>
    </p:spTree>
    <p:extLst>
      <p:ext uri="{BB962C8B-B14F-4D97-AF65-F5344CB8AC3E}">
        <p14:creationId xmlns:p14="http://schemas.microsoft.com/office/powerpoint/2010/main" val="12354792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6739F-64F5-BE3F-0414-7A855B0132C4}"/>
              </a:ext>
            </a:extLst>
          </p:cNvPr>
          <p:cNvSpPr>
            <a:spLocks noGrp="1"/>
          </p:cNvSpPr>
          <p:nvPr>
            <p:ph type="title"/>
          </p:nvPr>
        </p:nvSpPr>
        <p:spPr/>
        <p:txBody>
          <a:bodyPr/>
          <a:lstStyle/>
          <a:p>
            <a:r>
              <a:rPr lang="en-US" dirty="0"/>
              <a:t>Pi-hole Installation</a:t>
            </a:r>
          </a:p>
        </p:txBody>
      </p:sp>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39</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a:xfrm>
            <a:off x="443366" y="1825625"/>
            <a:ext cx="8547362" cy="4351338"/>
          </a:xfrm>
        </p:spPr>
        <p:txBody>
          <a:bodyPr/>
          <a:lstStyle/>
          <a:p>
            <a:r>
              <a:rPr lang="en-US" dirty="0"/>
              <a:t>To install run : </a:t>
            </a:r>
            <a:r>
              <a:rPr lang="en-US" sz="2400" i="1" dirty="0"/>
              <a:t>curl -</a:t>
            </a:r>
            <a:r>
              <a:rPr lang="en-US" sz="2400" i="1" dirty="0" err="1"/>
              <a:t>sSL</a:t>
            </a:r>
            <a:r>
              <a:rPr lang="en-US" sz="2400" i="1" dirty="0"/>
              <a:t> https://install.pi-hole.net | bash</a:t>
            </a:r>
          </a:p>
          <a:p>
            <a:r>
              <a:rPr lang="en-US" dirty="0"/>
              <a:t>Follow the </a:t>
            </a:r>
            <a:r>
              <a:rPr lang="en-US" dirty="0" err="1"/>
              <a:t>installion</a:t>
            </a:r>
            <a:r>
              <a:rPr lang="en-US" dirty="0"/>
              <a:t> specified by the installer and complete the installation.</a:t>
            </a:r>
          </a:p>
          <a:p>
            <a:r>
              <a:rPr lang="en-US" dirty="0"/>
              <a:t>After installation run : </a:t>
            </a:r>
            <a:r>
              <a:rPr lang="en-US" i="1" dirty="0" err="1"/>
              <a:t>pihole</a:t>
            </a:r>
            <a:r>
              <a:rPr lang="en-US" i="1" dirty="0"/>
              <a:t> -a –p</a:t>
            </a:r>
          </a:p>
          <a:p>
            <a:r>
              <a:rPr lang="en-US" dirty="0"/>
              <a:t>Then in the web interface login with the password.</a:t>
            </a:r>
          </a:p>
          <a:p>
            <a:r>
              <a:rPr lang="en-US" dirty="0"/>
              <a:t>Set PI hole as DNS ,if internet connection faults as result  run : “</a:t>
            </a:r>
            <a:r>
              <a:rPr lang="en-US" sz="2400" i="1" dirty="0"/>
              <a:t>echo "nameserver 8.8.8.8" | sudo tee /</a:t>
            </a:r>
            <a:r>
              <a:rPr lang="en-US" sz="2400" i="1" dirty="0" err="1"/>
              <a:t>etc</a:t>
            </a:r>
            <a:r>
              <a:rPr lang="en-US" sz="2400" i="1" dirty="0"/>
              <a:t>/</a:t>
            </a:r>
            <a:r>
              <a:rPr lang="en-US" sz="2400" i="1" dirty="0" err="1"/>
              <a:t>resolv.conf</a:t>
            </a:r>
            <a:r>
              <a:rPr lang="en-US" sz="2400" i="1" dirty="0"/>
              <a:t> &gt; /dev/null” </a:t>
            </a:r>
            <a:r>
              <a:rPr lang="en-US" sz="2400" dirty="0"/>
              <a:t>(a </a:t>
            </a:r>
            <a:r>
              <a:rPr lang="en-US" sz="2400" dirty="0" err="1"/>
              <a:t>temperory</a:t>
            </a:r>
            <a:r>
              <a:rPr lang="en-US" sz="2400" dirty="0"/>
              <a:t> fix till completion).</a:t>
            </a:r>
            <a:endParaRPr lang="en-US" dirty="0"/>
          </a:p>
          <a:p>
            <a:pPr marL="457200" lvl="1" indent="0">
              <a:buNone/>
            </a:pPr>
            <a:endParaRPr lang="en-US" dirty="0"/>
          </a:p>
        </p:txBody>
      </p:sp>
      <p:pic>
        <p:nvPicPr>
          <p:cNvPr id="6" name="Picture 5">
            <a:extLst>
              <a:ext uri="{FF2B5EF4-FFF2-40B4-BE49-F238E27FC236}">
                <a16:creationId xmlns:a16="http://schemas.microsoft.com/office/drawing/2014/main" id="{F01F250B-75F0-D20B-791C-4878F36B78B1}"/>
              </a:ext>
            </a:extLst>
          </p:cNvPr>
          <p:cNvPicPr>
            <a:picLocks noChangeAspect="1"/>
          </p:cNvPicPr>
          <p:nvPr/>
        </p:nvPicPr>
        <p:blipFill rotWithShape="1">
          <a:blip r:embed="rId2"/>
          <a:srcRect r="12258"/>
          <a:stretch/>
        </p:blipFill>
        <p:spPr>
          <a:xfrm>
            <a:off x="9244048" y="1945891"/>
            <a:ext cx="2504586" cy="2784437"/>
          </a:xfrm>
          <a:prstGeom prst="rect">
            <a:avLst/>
          </a:prstGeom>
        </p:spPr>
      </p:pic>
    </p:spTree>
    <p:extLst>
      <p:ext uri="{BB962C8B-B14F-4D97-AF65-F5344CB8AC3E}">
        <p14:creationId xmlns:p14="http://schemas.microsoft.com/office/powerpoint/2010/main" val="27297075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3553A6-33DE-2EDC-5DF7-F2D578A64A30}"/>
              </a:ext>
            </a:extLst>
          </p:cNvPr>
          <p:cNvSpPr>
            <a:spLocks noGrp="1"/>
          </p:cNvSpPr>
          <p:nvPr>
            <p:ph type="sldNum" sz="quarter" idx="12"/>
          </p:nvPr>
        </p:nvSpPr>
        <p:spPr/>
        <p:txBody>
          <a:bodyPr/>
          <a:lstStyle/>
          <a:p>
            <a:fld id="{C263D6C4-4840-40CC-AC84-17E24B3B7BDE}" type="slidenum">
              <a:rPr lang="en-US" noProof="0" smtClean="0"/>
              <a:pPr/>
              <a:t>40</a:t>
            </a:fld>
            <a:endParaRPr lang="en-US" noProof="0" dirty="0"/>
          </a:p>
        </p:txBody>
      </p:sp>
      <p:sp>
        <p:nvSpPr>
          <p:cNvPr id="4" name="Content Placeholder 3">
            <a:extLst>
              <a:ext uri="{FF2B5EF4-FFF2-40B4-BE49-F238E27FC236}">
                <a16:creationId xmlns:a16="http://schemas.microsoft.com/office/drawing/2014/main" id="{EC8B6032-0269-F6E9-A445-347429A8D7E4}"/>
              </a:ext>
            </a:extLst>
          </p:cNvPr>
          <p:cNvSpPr>
            <a:spLocks noGrp="1"/>
          </p:cNvSpPr>
          <p:nvPr>
            <p:ph idx="1"/>
          </p:nvPr>
        </p:nvSpPr>
        <p:spPr>
          <a:xfrm>
            <a:off x="828842" y="1465782"/>
            <a:ext cx="10423358" cy="1025491"/>
          </a:xfrm>
        </p:spPr>
        <p:txBody>
          <a:bodyPr>
            <a:normAutofit fontScale="92500" lnSpcReduction="20000"/>
          </a:bodyPr>
          <a:lstStyle/>
          <a:p>
            <a:r>
              <a:rPr lang="en-US" dirty="0"/>
              <a:t>After the installation head to </a:t>
            </a:r>
            <a:r>
              <a:rPr lang="en-US" dirty="0">
                <a:hlinkClick r:id="rId2"/>
              </a:rPr>
              <a:t>http://pi.hole/admin</a:t>
            </a:r>
            <a:r>
              <a:rPr lang="en-US" dirty="0"/>
              <a:t> you can use the password provided during the process to login to land at the Dashboard </a:t>
            </a:r>
          </a:p>
        </p:txBody>
      </p:sp>
      <p:pic>
        <p:nvPicPr>
          <p:cNvPr id="1026" name="Picture 2">
            <a:extLst>
              <a:ext uri="{FF2B5EF4-FFF2-40B4-BE49-F238E27FC236}">
                <a16:creationId xmlns:a16="http://schemas.microsoft.com/office/drawing/2014/main" id="{F1575C21-9325-0E5A-F0E1-8A19568E60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90" t="8942" r="4156" b="8351"/>
          <a:stretch/>
        </p:blipFill>
        <p:spPr bwMode="auto">
          <a:xfrm>
            <a:off x="6096000" y="2491271"/>
            <a:ext cx="4889242" cy="36389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0E9DD75-97AB-E28A-D91A-C7C5E96A16BB}"/>
              </a:ext>
            </a:extLst>
          </p:cNvPr>
          <p:cNvPicPr>
            <a:picLocks noChangeAspect="1"/>
          </p:cNvPicPr>
          <p:nvPr/>
        </p:nvPicPr>
        <p:blipFill rotWithShape="1">
          <a:blip r:embed="rId4"/>
          <a:srcRect l="4061" t="4566" r="3847" b="6742"/>
          <a:stretch/>
        </p:blipFill>
        <p:spPr>
          <a:xfrm>
            <a:off x="939800" y="2491272"/>
            <a:ext cx="4889242" cy="3638939"/>
          </a:xfrm>
          <a:prstGeom prst="rect">
            <a:avLst/>
          </a:prstGeom>
        </p:spPr>
      </p:pic>
    </p:spTree>
    <p:extLst>
      <p:ext uri="{BB962C8B-B14F-4D97-AF65-F5344CB8AC3E}">
        <p14:creationId xmlns:p14="http://schemas.microsoft.com/office/powerpoint/2010/main" val="30347396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BCEB-69A5-E10A-0421-D4D28CD1B1D2}"/>
              </a:ext>
            </a:extLst>
          </p:cNvPr>
          <p:cNvSpPr>
            <a:spLocks noGrp="1"/>
          </p:cNvSpPr>
          <p:nvPr>
            <p:ph type="title"/>
          </p:nvPr>
        </p:nvSpPr>
        <p:spPr/>
        <p:txBody>
          <a:bodyPr/>
          <a:lstStyle/>
          <a:p>
            <a:r>
              <a:rPr lang="en-US" dirty="0"/>
              <a:t>Unboud DNS Installation</a:t>
            </a:r>
          </a:p>
        </p:txBody>
      </p:sp>
      <p:sp>
        <p:nvSpPr>
          <p:cNvPr id="3" name="Slide Number Placeholder 2">
            <a:extLst>
              <a:ext uri="{FF2B5EF4-FFF2-40B4-BE49-F238E27FC236}">
                <a16:creationId xmlns:a16="http://schemas.microsoft.com/office/drawing/2014/main" id="{9D3553A6-33DE-2EDC-5DF7-F2D578A64A30}"/>
              </a:ext>
            </a:extLst>
          </p:cNvPr>
          <p:cNvSpPr>
            <a:spLocks noGrp="1"/>
          </p:cNvSpPr>
          <p:nvPr>
            <p:ph type="sldNum" sz="quarter" idx="12"/>
          </p:nvPr>
        </p:nvSpPr>
        <p:spPr/>
        <p:txBody>
          <a:bodyPr/>
          <a:lstStyle/>
          <a:p>
            <a:fld id="{C263D6C4-4840-40CC-AC84-17E24B3B7BDE}" type="slidenum">
              <a:rPr lang="en-US" noProof="0" smtClean="0"/>
              <a:pPr/>
              <a:t>41</a:t>
            </a:fld>
            <a:endParaRPr lang="en-US" noProof="0" dirty="0"/>
          </a:p>
        </p:txBody>
      </p:sp>
      <p:sp>
        <p:nvSpPr>
          <p:cNvPr id="4" name="Content Placeholder 3">
            <a:extLst>
              <a:ext uri="{FF2B5EF4-FFF2-40B4-BE49-F238E27FC236}">
                <a16:creationId xmlns:a16="http://schemas.microsoft.com/office/drawing/2014/main" id="{EC8B6032-0269-F6E9-A445-347429A8D7E4}"/>
              </a:ext>
            </a:extLst>
          </p:cNvPr>
          <p:cNvSpPr>
            <a:spLocks noGrp="1"/>
          </p:cNvSpPr>
          <p:nvPr>
            <p:ph idx="1"/>
          </p:nvPr>
        </p:nvSpPr>
        <p:spPr>
          <a:xfrm>
            <a:off x="443366" y="1825625"/>
            <a:ext cx="7369541" cy="4351338"/>
          </a:xfrm>
        </p:spPr>
        <p:txBody>
          <a:bodyPr/>
          <a:lstStyle/>
          <a:p>
            <a:r>
              <a:rPr lang="en-US" sz="2400" dirty="0"/>
              <a:t>To install Unbound on the Raspberry Pi: sudo apt install unbound</a:t>
            </a:r>
          </a:p>
          <a:p>
            <a:r>
              <a:rPr lang="en-US" sz="2400" dirty="0"/>
              <a:t>Afterwards we'll need to download a </a:t>
            </a:r>
            <a:r>
              <a:rPr lang="en-US" sz="2400" dirty="0" err="1"/>
              <a:t>root.hints</a:t>
            </a:r>
            <a:r>
              <a:rPr lang="en-US" sz="2400" dirty="0"/>
              <a:t> file to replace the built-in hints:</a:t>
            </a:r>
          </a:p>
          <a:p>
            <a:pPr marL="0" indent="0" algn="ctr">
              <a:buNone/>
            </a:pPr>
            <a:r>
              <a:rPr lang="en-US" sz="2000" i="1" dirty="0"/>
              <a:t>‘wget -O root.hints https://www.internic.net/domain/</a:t>
            </a:r>
            <a:r>
              <a:rPr lang="en-US" sz="2000" i="1" dirty="0" err="1"/>
              <a:t>named.root</a:t>
            </a:r>
            <a:r>
              <a:rPr lang="en-US" sz="2000" i="1" dirty="0"/>
              <a:t>’</a:t>
            </a:r>
          </a:p>
          <a:p>
            <a:pPr marL="0" indent="0" algn="ctr">
              <a:buNone/>
            </a:pPr>
            <a:r>
              <a:rPr lang="en-US" sz="2000" i="1" dirty="0"/>
              <a:t>‘sudo mv root.hints /var/lib/unbound/’</a:t>
            </a:r>
          </a:p>
          <a:p>
            <a:pPr marL="0" indent="0" algn="ctr">
              <a:buNone/>
            </a:pPr>
            <a:r>
              <a:rPr lang="en-US" sz="2000" i="1" dirty="0"/>
              <a:t>‘sudo nano /</a:t>
            </a:r>
            <a:r>
              <a:rPr lang="en-US" sz="2000" i="1" dirty="0" err="1"/>
              <a:t>etc</a:t>
            </a:r>
            <a:r>
              <a:rPr lang="en-US" sz="2000" i="1" dirty="0"/>
              <a:t>/unbound/</a:t>
            </a:r>
            <a:r>
              <a:rPr lang="en-US" sz="2000" i="1" dirty="0" err="1"/>
              <a:t>unbound.conf.d</a:t>
            </a:r>
            <a:r>
              <a:rPr lang="en-US" sz="2000" i="1" dirty="0"/>
              <a:t>/pi-</a:t>
            </a:r>
            <a:r>
              <a:rPr lang="en-US" sz="2000" i="1" dirty="0" err="1"/>
              <a:t>hole.conf</a:t>
            </a:r>
            <a:r>
              <a:rPr lang="en-US" sz="2000" i="1" dirty="0"/>
              <a:t>’</a:t>
            </a:r>
          </a:p>
          <a:p>
            <a:r>
              <a:rPr lang="en-US" sz="2000" dirty="0"/>
              <a:t>Then copy paste the contents of </a:t>
            </a:r>
            <a:r>
              <a:rPr lang="en-US" sz="2000" dirty="0" err="1"/>
              <a:t>dns.conf</a:t>
            </a:r>
            <a:r>
              <a:rPr lang="en-US" sz="2000" dirty="0"/>
              <a:t> file from repository and change the </a:t>
            </a:r>
            <a:r>
              <a:rPr lang="en-US" sz="2000" dirty="0" err="1"/>
              <a:t>ip</a:t>
            </a:r>
            <a:r>
              <a:rPr lang="en-US" sz="2000" dirty="0"/>
              <a:t> and </a:t>
            </a:r>
            <a:r>
              <a:rPr lang="en-US" sz="2000" dirty="0" err="1"/>
              <a:t>dns</a:t>
            </a:r>
            <a:r>
              <a:rPr lang="en-US" sz="2000" dirty="0"/>
              <a:t> according to you r network.</a:t>
            </a:r>
          </a:p>
          <a:p>
            <a:r>
              <a:rPr lang="en-US" sz="2000" dirty="0"/>
              <a:t>Then run this command to conclude this installation</a:t>
            </a:r>
          </a:p>
          <a:p>
            <a:pPr marL="0" indent="0" algn="ctr">
              <a:buNone/>
            </a:pPr>
            <a:r>
              <a:rPr lang="en-US" sz="2000" i="1" dirty="0"/>
              <a:t>sudo service unbound start</a:t>
            </a:r>
          </a:p>
        </p:txBody>
      </p:sp>
      <p:pic>
        <p:nvPicPr>
          <p:cNvPr id="7" name="Picture 6">
            <a:extLst>
              <a:ext uri="{FF2B5EF4-FFF2-40B4-BE49-F238E27FC236}">
                <a16:creationId xmlns:a16="http://schemas.microsoft.com/office/drawing/2014/main" id="{FA38B0D5-5445-199E-08AE-36215094913E}"/>
              </a:ext>
            </a:extLst>
          </p:cNvPr>
          <p:cNvPicPr>
            <a:picLocks noChangeAspect="1"/>
          </p:cNvPicPr>
          <p:nvPr/>
        </p:nvPicPr>
        <p:blipFill rotWithShape="1">
          <a:blip r:embed="rId2"/>
          <a:srcRect l="6468" t="9931" r="6327" b="9931"/>
          <a:stretch/>
        </p:blipFill>
        <p:spPr>
          <a:xfrm>
            <a:off x="8008849" y="1825625"/>
            <a:ext cx="3845693" cy="3321796"/>
          </a:xfrm>
          <a:prstGeom prst="rect">
            <a:avLst/>
          </a:prstGeom>
        </p:spPr>
      </p:pic>
    </p:spTree>
    <p:extLst>
      <p:ext uri="{BB962C8B-B14F-4D97-AF65-F5344CB8AC3E}">
        <p14:creationId xmlns:p14="http://schemas.microsoft.com/office/powerpoint/2010/main" val="24773438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BCEB-69A5-E10A-0421-D4D28CD1B1D2}"/>
              </a:ext>
            </a:extLst>
          </p:cNvPr>
          <p:cNvSpPr>
            <a:spLocks noGrp="1"/>
          </p:cNvSpPr>
          <p:nvPr>
            <p:ph type="title"/>
          </p:nvPr>
        </p:nvSpPr>
        <p:spPr/>
        <p:txBody>
          <a:bodyPr/>
          <a:lstStyle/>
          <a:p>
            <a:r>
              <a:rPr lang="en-US" dirty="0"/>
              <a:t>Python Script – </a:t>
            </a:r>
            <a:r>
              <a:rPr lang="en-US" dirty="0" err="1"/>
              <a:t>Adlist</a:t>
            </a:r>
            <a:r>
              <a:rPr lang="en-US" dirty="0"/>
              <a:t> Generation</a:t>
            </a:r>
          </a:p>
        </p:txBody>
      </p:sp>
      <p:sp>
        <p:nvSpPr>
          <p:cNvPr id="3" name="Slide Number Placeholder 2">
            <a:extLst>
              <a:ext uri="{FF2B5EF4-FFF2-40B4-BE49-F238E27FC236}">
                <a16:creationId xmlns:a16="http://schemas.microsoft.com/office/drawing/2014/main" id="{9D3553A6-33DE-2EDC-5DF7-F2D578A64A30}"/>
              </a:ext>
            </a:extLst>
          </p:cNvPr>
          <p:cNvSpPr>
            <a:spLocks noGrp="1"/>
          </p:cNvSpPr>
          <p:nvPr>
            <p:ph type="sldNum" sz="quarter" idx="12"/>
          </p:nvPr>
        </p:nvSpPr>
        <p:spPr/>
        <p:txBody>
          <a:bodyPr/>
          <a:lstStyle/>
          <a:p>
            <a:fld id="{C263D6C4-4840-40CC-AC84-17E24B3B7BDE}" type="slidenum">
              <a:rPr lang="en-US" noProof="0" smtClean="0"/>
              <a:pPr/>
              <a:t>42</a:t>
            </a:fld>
            <a:endParaRPr lang="en-US" noProof="0" dirty="0"/>
          </a:p>
        </p:txBody>
      </p:sp>
      <p:sp>
        <p:nvSpPr>
          <p:cNvPr id="4" name="Content Placeholder 3">
            <a:extLst>
              <a:ext uri="{FF2B5EF4-FFF2-40B4-BE49-F238E27FC236}">
                <a16:creationId xmlns:a16="http://schemas.microsoft.com/office/drawing/2014/main" id="{EC8B6032-0269-F6E9-A445-347429A8D7E4}"/>
              </a:ext>
            </a:extLst>
          </p:cNvPr>
          <p:cNvSpPr>
            <a:spLocks noGrp="1"/>
          </p:cNvSpPr>
          <p:nvPr>
            <p:ph idx="1"/>
          </p:nvPr>
        </p:nvSpPr>
        <p:spPr>
          <a:xfrm>
            <a:off x="378051" y="1816294"/>
            <a:ext cx="11280550" cy="4351338"/>
          </a:xfrm>
        </p:spPr>
        <p:txBody>
          <a:bodyPr/>
          <a:lstStyle/>
          <a:p>
            <a:r>
              <a:rPr lang="en-US" dirty="0"/>
              <a:t>Download the latest Suricata5 rules by running bash file </a:t>
            </a:r>
          </a:p>
          <a:p>
            <a:pPr marL="0" indent="0" algn="ctr">
              <a:buNone/>
            </a:pPr>
            <a:r>
              <a:rPr lang="en-US"/>
              <a:t>“</a:t>
            </a:r>
            <a:r>
              <a:rPr lang="en-US" sz="2400"/>
              <a:t>./</a:t>
            </a:r>
            <a:r>
              <a:rPr lang="en-US" sz="2400" i="1" dirty="0"/>
              <a:t>fetch_et_open</a:t>
            </a:r>
            <a:r>
              <a:rPr lang="en-US" sz="2400" i="1"/>
              <a:t>.sh“</a:t>
            </a:r>
            <a:endParaRPr lang="en-US" sz="2400" i="1" dirty="0"/>
          </a:p>
          <a:p>
            <a:r>
              <a:rPr lang="en-US" dirty="0"/>
              <a:t>Then run the python script to generate </a:t>
            </a:r>
            <a:r>
              <a:rPr lang="en-US" dirty="0" err="1"/>
              <a:t>Adlists</a:t>
            </a:r>
            <a:r>
              <a:rPr lang="en-US" dirty="0"/>
              <a:t> by running the command</a:t>
            </a:r>
          </a:p>
          <a:p>
            <a:pPr marL="0" indent="0" algn="ctr">
              <a:buNone/>
            </a:pPr>
            <a:r>
              <a:rPr lang="en-US" sz="2400" i="1" dirty="0"/>
              <a:t> “ python3 et2dns.py “</a:t>
            </a:r>
          </a:p>
          <a:p>
            <a:r>
              <a:rPr lang="en-US" sz="2400" dirty="0"/>
              <a:t>Now a new folder output will be generated in the same directory.</a:t>
            </a:r>
          </a:p>
          <a:p>
            <a:r>
              <a:rPr lang="en-US" sz="2400" dirty="0"/>
              <a:t>Upload the files to </a:t>
            </a:r>
            <a:r>
              <a:rPr lang="en-US" sz="2400" dirty="0" err="1"/>
              <a:t>pihole</a:t>
            </a:r>
            <a:r>
              <a:rPr lang="en-US" sz="2400" dirty="0"/>
              <a:t> AdBlock lists , and update gravity </a:t>
            </a:r>
            <a:r>
              <a:rPr lang="en-US" sz="2400" dirty="0" err="1"/>
              <a:t>nby</a:t>
            </a:r>
            <a:r>
              <a:rPr lang="en-US" sz="2400" dirty="0"/>
              <a:t> running</a:t>
            </a:r>
          </a:p>
          <a:p>
            <a:pPr marL="0" indent="0" algn="ctr">
              <a:buNone/>
            </a:pPr>
            <a:r>
              <a:rPr lang="en-US" sz="2400" i="1" dirty="0"/>
              <a:t>“ pihole –g“</a:t>
            </a:r>
          </a:p>
        </p:txBody>
      </p:sp>
    </p:spTree>
    <p:extLst>
      <p:ext uri="{BB962C8B-B14F-4D97-AF65-F5344CB8AC3E}">
        <p14:creationId xmlns:p14="http://schemas.microsoft.com/office/powerpoint/2010/main" val="16644209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443CA-F3E0-5216-A5E2-F6A05EF78A0C}"/>
              </a:ext>
            </a:extLst>
          </p:cNvPr>
          <p:cNvSpPr>
            <a:spLocks noGrp="1"/>
          </p:cNvSpPr>
          <p:nvPr>
            <p:ph type="ctrTitle"/>
          </p:nvPr>
        </p:nvSpPr>
        <p:spPr>
          <a:xfrm>
            <a:off x="2557272" y="2432304"/>
            <a:ext cx="7077456" cy="1993392"/>
          </a:xfrm>
        </p:spPr>
        <p:txBody>
          <a:bodyPr/>
          <a:lstStyle/>
          <a:p>
            <a:pPr algn="ctr"/>
            <a:r>
              <a:rPr lang="en-US" dirty="0"/>
              <a:t>FUTURE ENHANCEMENTS</a:t>
            </a:r>
          </a:p>
        </p:txBody>
      </p:sp>
    </p:spTree>
    <p:extLst>
      <p:ext uri="{BB962C8B-B14F-4D97-AF65-F5344CB8AC3E}">
        <p14:creationId xmlns:p14="http://schemas.microsoft.com/office/powerpoint/2010/main" val="40707106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3553A6-33DE-2EDC-5DF7-F2D578A64A30}"/>
              </a:ext>
            </a:extLst>
          </p:cNvPr>
          <p:cNvSpPr>
            <a:spLocks noGrp="1"/>
          </p:cNvSpPr>
          <p:nvPr>
            <p:ph type="sldNum" sz="quarter" idx="12"/>
          </p:nvPr>
        </p:nvSpPr>
        <p:spPr/>
        <p:txBody>
          <a:bodyPr/>
          <a:lstStyle/>
          <a:p>
            <a:fld id="{C263D6C4-4840-40CC-AC84-17E24B3B7BDE}" type="slidenum">
              <a:rPr lang="en-US" noProof="0" smtClean="0"/>
              <a:pPr/>
              <a:t>44</a:t>
            </a:fld>
            <a:endParaRPr lang="en-US" noProof="0" dirty="0"/>
          </a:p>
        </p:txBody>
      </p:sp>
      <p:sp>
        <p:nvSpPr>
          <p:cNvPr id="4" name="Content Placeholder 3">
            <a:extLst>
              <a:ext uri="{FF2B5EF4-FFF2-40B4-BE49-F238E27FC236}">
                <a16:creationId xmlns:a16="http://schemas.microsoft.com/office/drawing/2014/main" id="{EC8B6032-0269-F6E9-A445-347429A8D7E4}"/>
              </a:ext>
            </a:extLst>
          </p:cNvPr>
          <p:cNvSpPr>
            <a:spLocks noGrp="1"/>
          </p:cNvSpPr>
          <p:nvPr>
            <p:ph idx="1"/>
          </p:nvPr>
        </p:nvSpPr>
        <p:spPr/>
        <p:txBody>
          <a:bodyPr>
            <a:normAutofit lnSpcReduction="10000"/>
          </a:bodyPr>
          <a:lstStyle/>
          <a:p>
            <a:r>
              <a:rPr lang="en-US" dirty="0">
                <a:solidFill>
                  <a:schemeClr val="accent2"/>
                </a:solidFill>
              </a:rPr>
              <a:t>Easy Installation and Configuration:</a:t>
            </a:r>
          </a:p>
          <a:p>
            <a:pPr marL="457200" lvl="1" indent="0">
              <a:buNone/>
            </a:pPr>
            <a:r>
              <a:rPr lang="en-US" sz="2800" dirty="0"/>
              <a:t>The project is designed for plug and play functionality, ensuring that users can set up the system with minimal effort and without the need for complex installation steps.</a:t>
            </a:r>
          </a:p>
          <a:p>
            <a:r>
              <a:rPr lang="en-US" dirty="0">
                <a:solidFill>
                  <a:schemeClr val="accent2"/>
                </a:solidFill>
              </a:rPr>
              <a:t>Machine Learning-based Threat Detection:</a:t>
            </a:r>
          </a:p>
          <a:p>
            <a:pPr marL="457200" lvl="1" indent="0">
              <a:buNone/>
            </a:pPr>
            <a:r>
              <a:rPr lang="en-US" sz="2800" dirty="0"/>
              <a:t>Implement machine learning algorithms to improve the detection and prevention of network threats and malicious activities.</a:t>
            </a:r>
          </a:p>
          <a:p>
            <a:r>
              <a:rPr lang="en-US" dirty="0">
                <a:solidFill>
                  <a:schemeClr val="accent2"/>
                </a:solidFill>
              </a:rPr>
              <a:t>Support for IPv6:</a:t>
            </a:r>
          </a:p>
          <a:p>
            <a:pPr marL="457200" lvl="1" indent="0">
              <a:buNone/>
            </a:pPr>
            <a:r>
              <a:rPr lang="en-US" sz="2800" dirty="0"/>
              <a:t>Extend support for IPv6 to ensure compatibility with the latest networking protocols and standards.</a:t>
            </a:r>
          </a:p>
        </p:txBody>
      </p:sp>
    </p:spTree>
    <p:extLst>
      <p:ext uri="{BB962C8B-B14F-4D97-AF65-F5344CB8AC3E}">
        <p14:creationId xmlns:p14="http://schemas.microsoft.com/office/powerpoint/2010/main" val="25968229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3553A6-33DE-2EDC-5DF7-F2D578A64A30}"/>
              </a:ext>
            </a:extLst>
          </p:cNvPr>
          <p:cNvSpPr>
            <a:spLocks noGrp="1"/>
          </p:cNvSpPr>
          <p:nvPr>
            <p:ph type="sldNum" sz="quarter" idx="12"/>
          </p:nvPr>
        </p:nvSpPr>
        <p:spPr/>
        <p:txBody>
          <a:bodyPr/>
          <a:lstStyle/>
          <a:p>
            <a:fld id="{C263D6C4-4840-40CC-AC84-17E24B3B7BDE}" type="slidenum">
              <a:rPr lang="en-US" noProof="0" smtClean="0"/>
              <a:pPr/>
              <a:t>45</a:t>
            </a:fld>
            <a:endParaRPr lang="en-US" noProof="0" dirty="0"/>
          </a:p>
        </p:txBody>
      </p:sp>
      <p:sp>
        <p:nvSpPr>
          <p:cNvPr id="4" name="Content Placeholder 3">
            <a:extLst>
              <a:ext uri="{FF2B5EF4-FFF2-40B4-BE49-F238E27FC236}">
                <a16:creationId xmlns:a16="http://schemas.microsoft.com/office/drawing/2014/main" id="{EC8B6032-0269-F6E9-A445-347429A8D7E4}"/>
              </a:ext>
            </a:extLst>
          </p:cNvPr>
          <p:cNvSpPr>
            <a:spLocks noGrp="1"/>
          </p:cNvSpPr>
          <p:nvPr>
            <p:ph idx="1"/>
          </p:nvPr>
        </p:nvSpPr>
        <p:spPr/>
        <p:txBody>
          <a:bodyPr/>
          <a:lstStyle/>
          <a:p>
            <a:r>
              <a:rPr lang="en-US" dirty="0">
                <a:solidFill>
                  <a:schemeClr val="accent2"/>
                </a:solidFill>
              </a:rPr>
              <a:t>Containerization and Microservices Architecture:</a:t>
            </a:r>
          </a:p>
          <a:p>
            <a:pPr marL="457200" lvl="1" indent="0">
              <a:buNone/>
            </a:pPr>
            <a:r>
              <a:rPr lang="en-US" sz="2800" dirty="0"/>
              <a:t>Refactor the system architecture using containerization and microservices to improve scalability, flexibility, and maintainability.</a:t>
            </a:r>
          </a:p>
          <a:p>
            <a:r>
              <a:rPr lang="en-US" dirty="0">
                <a:solidFill>
                  <a:schemeClr val="accent2"/>
                </a:solidFill>
              </a:rPr>
              <a:t>Community-driven Development and Support:</a:t>
            </a:r>
          </a:p>
          <a:p>
            <a:pPr marL="457200" lvl="1" indent="0">
              <a:buNone/>
            </a:pPr>
            <a:r>
              <a:rPr lang="en-US" sz="2800" dirty="0"/>
              <a:t>Establish a community-driven development model to encourage contributions, feedback, and support from the user community.</a:t>
            </a:r>
          </a:p>
          <a:p>
            <a:r>
              <a:rPr lang="en-US" dirty="0">
                <a:solidFill>
                  <a:schemeClr val="accent2"/>
                </a:solidFill>
              </a:rPr>
              <a:t>Enhanced Reporting and Analytics</a:t>
            </a:r>
            <a:r>
              <a:rPr lang="en-US" dirty="0"/>
              <a:t>:</a:t>
            </a:r>
          </a:p>
          <a:p>
            <a:pPr marL="457200" lvl="1" indent="0">
              <a:buNone/>
            </a:pPr>
            <a:r>
              <a:rPr lang="en-US" sz="2800" dirty="0"/>
              <a:t>Develop a dashboard to provide detailed reports and analytics on network traffic, ad blocking statistics, and security alerts.</a:t>
            </a:r>
          </a:p>
          <a:p>
            <a:pPr marL="457200" lvl="1" indent="0">
              <a:buNone/>
            </a:pPr>
            <a:endParaRPr lang="en-US" sz="2800" dirty="0"/>
          </a:p>
        </p:txBody>
      </p:sp>
    </p:spTree>
    <p:extLst>
      <p:ext uri="{BB962C8B-B14F-4D97-AF65-F5344CB8AC3E}">
        <p14:creationId xmlns:p14="http://schemas.microsoft.com/office/powerpoint/2010/main" val="26354934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3910956" y="2807208"/>
            <a:ext cx="4945598" cy="1243584"/>
          </a:xfrm>
        </p:spPr>
        <p:txBody>
          <a:bodyPr/>
          <a:lstStyle/>
          <a:p>
            <a:r>
              <a:rPr lang="en-US" dirty="0"/>
              <a:t>Thank You </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47</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a:xfrm>
            <a:off x="443365" y="1825625"/>
            <a:ext cx="9511187" cy="4351338"/>
          </a:xfrm>
        </p:spPr>
        <p:txBody>
          <a:bodyPr/>
          <a:lstStyle/>
          <a:p>
            <a:r>
              <a:rPr lang="en-US" dirty="0"/>
              <a:t>Traditional ad blocking methods offer users a variety of options to control the display of ads while browsing the web. </a:t>
            </a:r>
          </a:p>
          <a:p>
            <a:r>
              <a:rPr lang="en-US" dirty="0"/>
              <a:t>Browser extensions like AdBlock and </a:t>
            </a:r>
            <a:r>
              <a:rPr lang="en-US" dirty="0" err="1"/>
              <a:t>uBlock</a:t>
            </a:r>
            <a:r>
              <a:rPr lang="en-US" dirty="0"/>
              <a:t> Origin are popular choices, as they allow users to block ads directly within their web browsers. </a:t>
            </a:r>
          </a:p>
          <a:p>
            <a:r>
              <a:rPr lang="en-US" dirty="0"/>
              <a:t>These extensions work by analyzing web page content and blocking requests to known ad-serving domains, effectively preventing ads from being displayed. </a:t>
            </a:r>
          </a:p>
        </p:txBody>
      </p:sp>
      <p:pic>
        <p:nvPicPr>
          <p:cNvPr id="5" name="Picture 4">
            <a:extLst>
              <a:ext uri="{FF2B5EF4-FFF2-40B4-BE49-F238E27FC236}">
                <a16:creationId xmlns:a16="http://schemas.microsoft.com/office/drawing/2014/main" id="{92DA8D90-E105-37AE-0D16-3CFF68CF28FF}"/>
              </a:ext>
            </a:extLst>
          </p:cNvPr>
          <p:cNvPicPr>
            <a:picLocks noChangeAspect="1"/>
          </p:cNvPicPr>
          <p:nvPr/>
        </p:nvPicPr>
        <p:blipFill>
          <a:blip r:embed="rId2"/>
          <a:stretch>
            <a:fillRect/>
          </a:stretch>
        </p:blipFill>
        <p:spPr>
          <a:xfrm>
            <a:off x="10440016" y="1646770"/>
            <a:ext cx="1485900" cy="1485900"/>
          </a:xfrm>
          <a:prstGeom prst="rect">
            <a:avLst/>
          </a:prstGeom>
        </p:spPr>
      </p:pic>
      <p:pic>
        <p:nvPicPr>
          <p:cNvPr id="1026" name="Picture 2" descr="Image result for adguard">
            <a:extLst>
              <a:ext uri="{FF2B5EF4-FFF2-40B4-BE49-F238E27FC236}">
                <a16:creationId xmlns:a16="http://schemas.microsoft.com/office/drawing/2014/main" id="{20436149-8483-39D0-9BEF-8F3F22CEFC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8343" y="4280258"/>
            <a:ext cx="1355354" cy="13553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est VPN Ad Blocking and Ad Tracking Disabling - Best Reviews">
            <a:extLst>
              <a:ext uri="{FF2B5EF4-FFF2-40B4-BE49-F238E27FC236}">
                <a16:creationId xmlns:a16="http://schemas.microsoft.com/office/drawing/2014/main" id="{59065DD3-3D02-AB89-86F1-39925FE587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46780" y="2943768"/>
            <a:ext cx="1563126" cy="1563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0049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B8EEFD-A050-C5C0-E434-C84E54F057CD}"/>
              </a:ext>
            </a:extLst>
          </p:cNvPr>
          <p:cNvSpPr>
            <a:spLocks noGrp="1"/>
          </p:cNvSpPr>
          <p:nvPr>
            <p:ph type="sldNum" sz="quarter" idx="12"/>
          </p:nvPr>
        </p:nvSpPr>
        <p:spPr/>
        <p:txBody>
          <a:bodyPr/>
          <a:lstStyle/>
          <a:p>
            <a:fld id="{C263D6C4-4840-40CC-AC84-17E24B3B7BDE}" type="slidenum">
              <a:rPr lang="en-US" noProof="0" smtClean="0"/>
              <a:pPr/>
              <a:t>48</a:t>
            </a:fld>
            <a:endParaRPr lang="en-US" noProof="0" dirty="0"/>
          </a:p>
        </p:txBody>
      </p:sp>
      <p:sp>
        <p:nvSpPr>
          <p:cNvPr id="4" name="Content Placeholder 3">
            <a:extLst>
              <a:ext uri="{FF2B5EF4-FFF2-40B4-BE49-F238E27FC236}">
                <a16:creationId xmlns:a16="http://schemas.microsoft.com/office/drawing/2014/main" id="{F09F27C3-1118-867F-4C37-4759DA64A40A}"/>
              </a:ext>
            </a:extLst>
          </p:cNvPr>
          <p:cNvSpPr>
            <a:spLocks noGrp="1"/>
          </p:cNvSpPr>
          <p:nvPr>
            <p:ph idx="1"/>
          </p:nvPr>
        </p:nvSpPr>
        <p:spPr>
          <a:xfrm>
            <a:off x="443365" y="1825625"/>
            <a:ext cx="8821933" cy="4351338"/>
          </a:xfrm>
        </p:spPr>
        <p:txBody>
          <a:bodyPr/>
          <a:lstStyle/>
          <a:p>
            <a:r>
              <a:rPr lang="en-US" dirty="0"/>
              <a:t>Another method of ad blocking involves manipulating the host file of the operating system to block access to known ad-serving domains. By redirecting requests to these domains to a local host address, ads are effectively blocked at the system level. While this method can be effective, it requires manual configuration on each device and does not provide centralized control or monitoring.</a:t>
            </a:r>
          </a:p>
        </p:txBody>
      </p:sp>
      <p:pic>
        <p:nvPicPr>
          <p:cNvPr id="6" name="Picture 5">
            <a:extLst>
              <a:ext uri="{FF2B5EF4-FFF2-40B4-BE49-F238E27FC236}">
                <a16:creationId xmlns:a16="http://schemas.microsoft.com/office/drawing/2014/main" id="{095693C1-BB5C-1582-DD7C-3C5360E92E85}"/>
              </a:ext>
            </a:extLst>
          </p:cNvPr>
          <p:cNvPicPr>
            <a:picLocks noChangeAspect="1"/>
          </p:cNvPicPr>
          <p:nvPr/>
        </p:nvPicPr>
        <p:blipFill>
          <a:blip r:embed="rId2"/>
          <a:stretch>
            <a:fillRect/>
          </a:stretch>
        </p:blipFill>
        <p:spPr>
          <a:xfrm>
            <a:off x="9300368" y="2311613"/>
            <a:ext cx="2448267" cy="2048161"/>
          </a:xfrm>
          <a:prstGeom prst="rect">
            <a:avLst/>
          </a:prstGeom>
        </p:spPr>
      </p:pic>
    </p:spTree>
    <p:extLst>
      <p:ext uri="{BB962C8B-B14F-4D97-AF65-F5344CB8AC3E}">
        <p14:creationId xmlns:p14="http://schemas.microsoft.com/office/powerpoint/2010/main" val="2004489781"/>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26E0C9-B2AA-42E6-97B6-E1B7D9EAF1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1035</TotalTime>
  <Words>2524</Words>
  <Application>Microsoft Office PowerPoint</Application>
  <PresentationFormat>Widescreen</PresentationFormat>
  <Paragraphs>210</Paragraphs>
  <Slides>48</Slides>
  <Notes>0</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vt:lpstr>
      <vt:lpstr>Calibri</vt:lpstr>
      <vt:lpstr>Times New Roman</vt:lpstr>
      <vt:lpstr>Trade Gothic LT Pro</vt:lpstr>
      <vt:lpstr>Trebuchet MS</vt:lpstr>
      <vt:lpstr>Wingdings</vt:lpstr>
      <vt:lpstr>Office Theme</vt:lpstr>
      <vt:lpstr>PowerPoint Presentation</vt:lpstr>
      <vt:lpstr>Next-Gen Ad Blocking and Dynamic Ad-list Generation in Raspberry Pi</vt:lpstr>
      <vt:lpstr>Agenda</vt:lpstr>
      <vt:lpstr>INTRODUCTION</vt:lpstr>
      <vt:lpstr>PowerPoint Presentation</vt:lpstr>
      <vt:lpstr>PowerPoint Presentation</vt:lpstr>
      <vt:lpstr>ABSTRACT</vt:lpstr>
      <vt:lpstr>PowerPoint Presentation</vt:lpstr>
      <vt:lpstr>PowerPoint Presentation</vt:lpstr>
      <vt:lpstr>OBJECTIVE</vt:lpstr>
      <vt:lpstr>PowerPoint Presentation</vt:lpstr>
      <vt:lpstr>PowerPoint Presentation</vt:lpstr>
      <vt:lpstr>LITERATURE SURVEY</vt:lpstr>
      <vt:lpstr>PowerPoint Presentation</vt:lpstr>
      <vt:lpstr>PowerPoint Presentation</vt:lpstr>
      <vt:lpstr>PowerPoint Presentation</vt:lpstr>
      <vt:lpstr>PROBLEM STATEMENT</vt:lpstr>
      <vt:lpstr>PowerPoint Presentation</vt:lpstr>
      <vt:lpstr>PowerPoint Presentation</vt:lpstr>
      <vt:lpstr>PROPOSED SYSTEM</vt:lpstr>
      <vt:lpstr>PowerPoint Presentation</vt:lpstr>
      <vt:lpstr>PowerPoint Presentation</vt:lpstr>
      <vt:lpstr>BASE PAPER</vt:lpstr>
      <vt:lpstr>PowerPoint Presentation</vt:lpstr>
      <vt:lpstr>MODULES</vt:lpstr>
      <vt:lpstr>PowerPoint Presentation</vt:lpstr>
      <vt:lpstr>SYSTEM ARCHITECTURE</vt:lpstr>
      <vt:lpstr>PowerPoint Presentation</vt:lpstr>
      <vt:lpstr>MODULE DIAGRAM</vt:lpstr>
      <vt:lpstr>PowerPoint Presentation</vt:lpstr>
      <vt:lpstr>RESULT</vt:lpstr>
      <vt:lpstr>PowerPoint Presentation</vt:lpstr>
      <vt:lpstr>PowerPoint Presentation</vt:lpstr>
      <vt:lpstr>IMPLEMENTAION</vt:lpstr>
      <vt:lpstr>Prerequisites</vt:lpstr>
      <vt:lpstr>Raspberry Pi Installtion</vt:lpstr>
      <vt:lpstr>Setup</vt:lpstr>
      <vt:lpstr>PowerPoint Presentation</vt:lpstr>
      <vt:lpstr>Pi-hole Installation</vt:lpstr>
      <vt:lpstr>PowerPoint Presentation</vt:lpstr>
      <vt:lpstr>Unboud DNS Installation</vt:lpstr>
      <vt:lpstr>Python Script – Adlist Generation</vt:lpstr>
      <vt:lpstr>FUTURE ENHANCEMENTS</vt:lpstr>
      <vt:lpstr>PowerPoint Presentation</vt:lpstr>
      <vt:lpstr>PowerPoint Presentation</vt:lpstr>
      <vt:lpstr>Thank You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Next-Gen Ad Blocking and Dynamic Ad-list Generation in Raspberry Pi</dc:title>
  <dc:creator>Yuneshwaran Raghupathy</dc:creator>
  <cp:lastModifiedBy>Yuneshwaran Raghupathy</cp:lastModifiedBy>
  <cp:revision>4</cp:revision>
  <dcterms:created xsi:type="dcterms:W3CDTF">2024-04-22T14:27:08Z</dcterms:created>
  <dcterms:modified xsi:type="dcterms:W3CDTF">2024-05-09T13:53:25Z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